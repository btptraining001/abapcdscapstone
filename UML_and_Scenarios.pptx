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Capstone – Data Type Table (UML Class Diagram)</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SAP BTP ABAP Environment  |  1 table, 41 columns</a:t>
            </a:r>
          </a:p>
        </p:txBody>
      </p:sp>
      <p:sp>
        <p:nvSpPr>
          <p:cNvPr id="4" name="Table_Card"/>
          <p:cNvSpPr/>
          <p:nvPr/>
        </p:nvSpPr>
        <p:spPr>
          <a:xfrm>
            <a:off x="429768" y="749808"/>
            <a:ext cx="11338560" cy="4370832"/>
          </a:xfrm>
          <a:prstGeom prst="rect">
            <a:avLst/>
          </a:prstGeom>
          <a:solidFill>
            <a:srgbClr val="FFFFFF"/>
          </a:solidFill>
          <a:ln w="19050">
            <a:solidFill>
              <a:srgbClr val="1F2D3D"/>
            </a:solidFill>
          </a:ln>
          <a:effectLst>
            <a:outerShdw blurRad="101600" dist="38100" dir="8100000" algn="bl" rotWithShape="0">
              <a:srgbClr val="000000">
                <a:alpha val="12000"/>
              </a:srgbClr>
            </a:outerShdw>
          </a:effectLst>
        </p:spPr>
        <p:txBody>
          <a:bodyPr rtlCol="0" anchor="ctr"/>
          <a:lstStyle/>
          <a:p>
            <a:pPr algn="ctr"/>
          </a:p>
        </p:txBody>
      </p:sp>
      <p:sp>
        <p:nvSpPr>
          <p:cNvPr id="5" name="Table_Header"/>
          <p:cNvSpPr/>
          <p:nvPr/>
        </p:nvSpPr>
        <p:spPr>
          <a:xfrm>
            <a:off x="448056" y="768096"/>
            <a:ext cx="11301984" cy="566928"/>
          </a:xfrm>
          <a:prstGeom prst="rect">
            <a:avLst/>
          </a:prstGeom>
          <a:solidFill>
            <a:srgbClr val="1F2D3D"/>
          </a:solidFill>
          <a:ln w="6350">
            <a:solidFill>
              <a:srgbClr val="1F2D3D"/>
            </a:solidFill>
          </a:ln>
          <a:effectLst/>
        </p:spPr>
        <p:txBody>
          <a:bodyPr rtlCol="0" anchor="ctr"/>
          <a:lstStyle/>
          <a:p>
            <a:pPr algn="ctr"/>
          </a:p>
        </p:txBody>
      </p:sp>
      <p:sp>
        <p:nvSpPr>
          <p:cNvPr id="6" name="Table_Name"/>
          <p:cNvSpPr txBox="1"/>
          <p:nvPr/>
        </p:nvSpPr>
        <p:spPr>
          <a:xfrm>
            <a:off x="429768" y="777240"/>
            <a:ext cx="11338560" cy="548640"/>
          </a:xfrm>
          <a:prstGeom prst="rect">
            <a:avLst/>
          </a:prstGeom>
          <a:noFill/>
        </p:spPr>
        <p:txBody>
          <a:bodyPr wrap="square" lIns="0" rIns="0" tIns="0" bIns="0" anchor="ctr">
            <a:spAutoFit/>
          </a:bodyPr>
          <a:lstStyle/>
          <a:p>
            <a:pPr algn="ctr"/>
            <a:r>
              <a:rPr sz="800" b="0" i="1">
                <a:solidFill>
                  <a:srgbClr val="AEB8C4"/>
                </a:solidFill>
                <a:latin typeface="Calibri"/>
              </a:rPr>
              <a:t>«table»</a:t>
            </a:r>
          </a:p>
          <a:p>
            <a:pPr algn="ctr"/>
            <a:r>
              <a:rPr sz="1400" b="1" i="0">
                <a:solidFill>
                  <a:srgbClr val="FFFFFF"/>
                </a:solidFill>
                <a:latin typeface="Calibri"/>
              </a:rPr>
              <a:t>zvkrap01_dt_demo</a:t>
            </a:r>
          </a:p>
        </p:txBody>
      </p:sp>
      <p:sp>
        <p:nvSpPr>
          <p:cNvPr id="7" name="Group_Band"/>
          <p:cNvSpPr/>
          <p:nvPr/>
        </p:nvSpPr>
        <p:spPr>
          <a:xfrm>
            <a:off x="548640" y="1463040"/>
            <a:ext cx="2176272" cy="310896"/>
          </a:xfrm>
          <a:prstGeom prst="rect">
            <a:avLst/>
          </a:prstGeom>
          <a:solidFill>
            <a:srgbClr val="1F6FB2"/>
          </a:solidFill>
          <a:ln w="6350">
            <a:solidFill>
              <a:srgbClr val="1F6FB2"/>
            </a:solidFill>
          </a:ln>
          <a:effectLst/>
        </p:spPr>
        <p:txBody>
          <a:bodyPr rtlCol="0" anchor="ctr"/>
          <a:lstStyle/>
          <a:p>
            <a:pPr algn="ctr"/>
          </a:p>
        </p:txBody>
      </p:sp>
      <p:sp>
        <p:nvSpPr>
          <p:cNvPr id="8" name="Group_Name"/>
          <p:cNvSpPr txBox="1"/>
          <p:nvPr/>
        </p:nvSpPr>
        <p:spPr>
          <a:xfrm>
            <a:off x="594359" y="1472184"/>
            <a:ext cx="1408176" cy="292608"/>
          </a:xfrm>
          <a:prstGeom prst="rect">
            <a:avLst/>
          </a:prstGeom>
          <a:noFill/>
        </p:spPr>
        <p:txBody>
          <a:bodyPr wrap="square" lIns="0" rIns="0" tIns="0" bIns="0" anchor="ctr">
            <a:spAutoFit/>
          </a:bodyPr>
          <a:lstStyle/>
          <a:p>
            <a:r>
              <a:rPr sz="1100" b="1" i="0">
                <a:solidFill>
                  <a:srgbClr val="FFFFFF"/>
                </a:solidFill>
                <a:latin typeface="Calibri"/>
              </a:rPr>
              <a:t>Keys and numbers</a:t>
            </a:r>
          </a:p>
        </p:txBody>
      </p:sp>
      <p:sp>
        <p:nvSpPr>
          <p:cNvPr id="9" name="Group_Count"/>
          <p:cNvSpPr txBox="1"/>
          <p:nvPr/>
        </p:nvSpPr>
        <p:spPr>
          <a:xfrm>
            <a:off x="1975104" y="1472184"/>
            <a:ext cx="685800" cy="292608"/>
          </a:xfrm>
          <a:prstGeom prst="rect">
            <a:avLst/>
          </a:prstGeom>
          <a:noFill/>
        </p:spPr>
        <p:txBody>
          <a:bodyPr wrap="square" lIns="0" rIns="0" tIns="0" bIns="0" anchor="ctr">
            <a:spAutoFit/>
          </a:bodyPr>
          <a:lstStyle/>
          <a:p>
            <a:pPr algn="r"/>
            <a:r>
              <a:rPr sz="900" b="0" i="0">
                <a:solidFill>
                  <a:srgbClr val="FFFFFF"/>
                </a:solidFill>
                <a:latin typeface="Calibri"/>
              </a:rPr>
              <a:t>12 cols</a:t>
            </a:r>
          </a:p>
        </p:txBody>
      </p:sp>
      <p:sp>
        <p:nvSpPr>
          <p:cNvPr id="10" name="Row"/>
          <p:cNvSpPr/>
          <p:nvPr/>
        </p:nvSpPr>
        <p:spPr>
          <a:xfrm>
            <a:off x="548640" y="1810512"/>
            <a:ext cx="2176272" cy="260603"/>
          </a:xfrm>
          <a:prstGeom prst="rect">
            <a:avLst/>
          </a:prstGeom>
          <a:solidFill>
            <a:srgbClr val="E3EEF9"/>
          </a:solidFill>
          <a:ln w="3175">
            <a:solidFill>
              <a:srgbClr val="E3EEF9"/>
            </a:solidFill>
          </a:ln>
          <a:effectLst/>
        </p:spPr>
        <p:txBody>
          <a:bodyPr rtlCol="0" anchor="ctr"/>
          <a:lstStyle/>
          <a:p>
            <a:pPr algn="ctr"/>
          </a:p>
        </p:txBody>
      </p:sp>
      <p:sp>
        <p:nvSpPr>
          <p:cNvPr id="11" name="PK_Badge"/>
          <p:cNvSpPr/>
          <p:nvPr/>
        </p:nvSpPr>
        <p:spPr>
          <a:xfrm>
            <a:off x="594359" y="1856231"/>
            <a:ext cx="274320" cy="173736"/>
          </a:xfrm>
          <a:prstGeom prst="roundRect">
            <a:avLst/>
          </a:prstGeom>
          <a:solidFill>
            <a:srgbClr val="F2B01E"/>
          </a:solidFill>
          <a:ln w="6350">
            <a:solidFill>
              <a:srgbClr val="F2B01E"/>
            </a:solidFill>
          </a:ln>
          <a:effectLst/>
        </p:spPr>
        <p:txBody>
          <a:bodyPr rtlCol="0" anchor="ctr"/>
          <a:lstStyle/>
          <a:p>
            <a:pPr algn="ctr"/>
          </a:p>
        </p:txBody>
      </p:sp>
      <p:sp>
        <p:nvSpPr>
          <p:cNvPr id="12" name="PK_Text"/>
          <p:cNvSpPr txBox="1"/>
          <p:nvPr/>
        </p:nvSpPr>
        <p:spPr>
          <a:xfrm>
            <a:off x="594359" y="1828800"/>
            <a:ext cx="274320" cy="219456"/>
          </a:xfrm>
          <a:prstGeom prst="rect">
            <a:avLst/>
          </a:prstGeom>
          <a:noFill/>
        </p:spPr>
        <p:txBody>
          <a:bodyPr wrap="square" lIns="0" rIns="0" tIns="0" bIns="0" anchor="ctr">
            <a:spAutoFit/>
          </a:bodyPr>
          <a:lstStyle/>
          <a:p>
            <a:pPr algn="ctr"/>
            <a:r>
              <a:rPr sz="700" b="1" i="0">
                <a:solidFill>
                  <a:srgbClr val="1F2D3D"/>
                </a:solidFill>
                <a:latin typeface="Calibri"/>
              </a:rPr>
              <a:t>PK</a:t>
            </a:r>
          </a:p>
        </p:txBody>
      </p:sp>
      <p:sp>
        <p:nvSpPr>
          <p:cNvPr id="13" name="Attr_Name"/>
          <p:cNvSpPr txBox="1"/>
          <p:nvPr/>
        </p:nvSpPr>
        <p:spPr>
          <a:xfrm>
            <a:off x="905256" y="1824228"/>
            <a:ext cx="1051560" cy="237744"/>
          </a:xfrm>
          <a:prstGeom prst="rect">
            <a:avLst/>
          </a:prstGeom>
          <a:noFill/>
        </p:spPr>
        <p:txBody>
          <a:bodyPr wrap="square" lIns="0" rIns="0" tIns="0" bIns="0" anchor="ctr">
            <a:spAutoFit/>
          </a:bodyPr>
          <a:lstStyle/>
          <a:p>
            <a:r>
              <a:rPr sz="1000" b="1" i="0">
                <a:solidFill>
                  <a:srgbClr val="1F2D3D"/>
                </a:solidFill>
                <a:latin typeface="Calibri"/>
              </a:rPr>
              <a:t>client</a:t>
            </a:r>
          </a:p>
        </p:txBody>
      </p:sp>
      <p:sp>
        <p:nvSpPr>
          <p:cNvPr id="14" name="Attr_Type"/>
          <p:cNvSpPr txBox="1"/>
          <p:nvPr/>
        </p:nvSpPr>
        <p:spPr>
          <a:xfrm>
            <a:off x="1709928" y="1824228"/>
            <a:ext cx="950976" cy="237744"/>
          </a:xfrm>
          <a:prstGeom prst="rect">
            <a:avLst/>
          </a:prstGeom>
          <a:noFill/>
        </p:spPr>
        <p:txBody>
          <a:bodyPr wrap="square" lIns="0" rIns="0" tIns="0" bIns="0" anchor="ctr">
            <a:spAutoFit/>
          </a:bodyPr>
          <a:lstStyle/>
          <a:p>
            <a:pPr algn="r"/>
            <a:r>
              <a:rPr sz="850" b="0" i="0">
                <a:solidFill>
                  <a:srgbClr val="6B7785"/>
                </a:solidFill>
                <a:latin typeface="Calibri"/>
              </a:rPr>
              <a:t>abap.clnt</a:t>
            </a:r>
          </a:p>
        </p:txBody>
      </p:sp>
      <p:sp>
        <p:nvSpPr>
          <p:cNvPr id="15" name="Row"/>
          <p:cNvSpPr/>
          <p:nvPr/>
        </p:nvSpPr>
        <p:spPr>
          <a:xfrm>
            <a:off x="548640" y="2071116"/>
            <a:ext cx="2176272" cy="260603"/>
          </a:xfrm>
          <a:prstGeom prst="rect">
            <a:avLst/>
          </a:prstGeom>
          <a:solidFill>
            <a:srgbClr val="FFFFFF"/>
          </a:solidFill>
          <a:ln w="3175">
            <a:solidFill>
              <a:srgbClr val="FFFFFF"/>
            </a:solidFill>
          </a:ln>
          <a:effectLst/>
        </p:spPr>
        <p:txBody>
          <a:bodyPr rtlCol="0" anchor="ctr"/>
          <a:lstStyle/>
          <a:p>
            <a:pPr algn="ctr"/>
          </a:p>
        </p:txBody>
      </p:sp>
      <p:sp>
        <p:nvSpPr>
          <p:cNvPr id="16" name="PK_Badge"/>
          <p:cNvSpPr/>
          <p:nvPr/>
        </p:nvSpPr>
        <p:spPr>
          <a:xfrm>
            <a:off x="594359" y="2116836"/>
            <a:ext cx="274320" cy="173736"/>
          </a:xfrm>
          <a:prstGeom prst="roundRect">
            <a:avLst/>
          </a:prstGeom>
          <a:solidFill>
            <a:srgbClr val="F2B01E"/>
          </a:solidFill>
          <a:ln w="6350">
            <a:solidFill>
              <a:srgbClr val="F2B01E"/>
            </a:solidFill>
          </a:ln>
          <a:effectLst/>
        </p:spPr>
        <p:txBody>
          <a:bodyPr rtlCol="0" anchor="ctr"/>
          <a:lstStyle/>
          <a:p>
            <a:pPr algn="ctr"/>
          </a:p>
        </p:txBody>
      </p:sp>
      <p:sp>
        <p:nvSpPr>
          <p:cNvPr id="17" name="PK_Text"/>
          <p:cNvSpPr txBox="1"/>
          <p:nvPr/>
        </p:nvSpPr>
        <p:spPr>
          <a:xfrm>
            <a:off x="594359" y="2089404"/>
            <a:ext cx="274320" cy="219456"/>
          </a:xfrm>
          <a:prstGeom prst="rect">
            <a:avLst/>
          </a:prstGeom>
          <a:noFill/>
        </p:spPr>
        <p:txBody>
          <a:bodyPr wrap="square" lIns="0" rIns="0" tIns="0" bIns="0" anchor="ctr">
            <a:spAutoFit/>
          </a:bodyPr>
          <a:lstStyle/>
          <a:p>
            <a:pPr algn="ctr"/>
            <a:r>
              <a:rPr sz="700" b="1" i="0">
                <a:solidFill>
                  <a:srgbClr val="1F2D3D"/>
                </a:solidFill>
                <a:latin typeface="Calibri"/>
              </a:rPr>
              <a:t>PK</a:t>
            </a:r>
          </a:p>
        </p:txBody>
      </p:sp>
      <p:sp>
        <p:nvSpPr>
          <p:cNvPr id="18" name="Attr_Name"/>
          <p:cNvSpPr txBox="1"/>
          <p:nvPr/>
        </p:nvSpPr>
        <p:spPr>
          <a:xfrm>
            <a:off x="905256" y="2084832"/>
            <a:ext cx="1051560" cy="237744"/>
          </a:xfrm>
          <a:prstGeom prst="rect">
            <a:avLst/>
          </a:prstGeom>
          <a:noFill/>
        </p:spPr>
        <p:txBody>
          <a:bodyPr wrap="square" lIns="0" rIns="0" tIns="0" bIns="0" anchor="ctr">
            <a:spAutoFit/>
          </a:bodyPr>
          <a:lstStyle/>
          <a:p>
            <a:r>
              <a:rPr sz="1000" b="1" i="0">
                <a:solidFill>
                  <a:srgbClr val="1F2D3D"/>
                </a:solidFill>
                <a:latin typeface="Calibri"/>
              </a:rPr>
              <a:t>rec_id</a:t>
            </a:r>
          </a:p>
        </p:txBody>
      </p:sp>
      <p:sp>
        <p:nvSpPr>
          <p:cNvPr id="19" name="Attr_Type"/>
          <p:cNvSpPr txBox="1"/>
          <p:nvPr/>
        </p:nvSpPr>
        <p:spPr>
          <a:xfrm>
            <a:off x="1709928" y="2084832"/>
            <a:ext cx="950976" cy="237744"/>
          </a:xfrm>
          <a:prstGeom prst="rect">
            <a:avLst/>
          </a:prstGeom>
          <a:noFill/>
        </p:spPr>
        <p:txBody>
          <a:bodyPr wrap="square" lIns="0" rIns="0" tIns="0" bIns="0" anchor="ctr">
            <a:spAutoFit/>
          </a:bodyPr>
          <a:lstStyle/>
          <a:p>
            <a:pPr algn="r"/>
            <a:r>
              <a:rPr sz="850" b="0" i="0">
                <a:solidFill>
                  <a:srgbClr val="6B7785"/>
                </a:solidFill>
                <a:latin typeface="Calibri"/>
              </a:rPr>
              <a:t>abap.int4</a:t>
            </a:r>
          </a:p>
        </p:txBody>
      </p:sp>
      <p:sp>
        <p:nvSpPr>
          <p:cNvPr id="20" name="Row"/>
          <p:cNvSpPr/>
          <p:nvPr/>
        </p:nvSpPr>
        <p:spPr>
          <a:xfrm>
            <a:off x="548640" y="2331720"/>
            <a:ext cx="2176272" cy="260603"/>
          </a:xfrm>
          <a:prstGeom prst="rect">
            <a:avLst/>
          </a:prstGeom>
          <a:solidFill>
            <a:srgbClr val="E3EEF9"/>
          </a:solidFill>
          <a:ln w="3175">
            <a:solidFill>
              <a:srgbClr val="E3EEF9"/>
            </a:solidFill>
          </a:ln>
          <a:effectLst/>
        </p:spPr>
        <p:txBody>
          <a:bodyPr rtlCol="0" anchor="ctr"/>
          <a:lstStyle/>
          <a:p>
            <a:pPr algn="ctr"/>
          </a:p>
        </p:txBody>
      </p:sp>
      <p:sp>
        <p:nvSpPr>
          <p:cNvPr id="21" name="Attr_Name"/>
          <p:cNvSpPr txBox="1"/>
          <p:nvPr/>
        </p:nvSpPr>
        <p:spPr>
          <a:xfrm>
            <a:off x="905256" y="2345436"/>
            <a:ext cx="1051560" cy="237744"/>
          </a:xfrm>
          <a:prstGeom prst="rect">
            <a:avLst/>
          </a:prstGeom>
          <a:noFill/>
        </p:spPr>
        <p:txBody>
          <a:bodyPr wrap="square" lIns="0" rIns="0" tIns="0" bIns="0" anchor="ctr">
            <a:spAutoFit/>
          </a:bodyPr>
          <a:lstStyle/>
          <a:p>
            <a:r>
              <a:rPr sz="1000" b="1" i="0">
                <a:solidFill>
                  <a:srgbClr val="1F2D3D"/>
                </a:solidFill>
                <a:latin typeface="Calibri"/>
              </a:rPr>
              <a:t>case_desc</a:t>
            </a:r>
          </a:p>
        </p:txBody>
      </p:sp>
      <p:sp>
        <p:nvSpPr>
          <p:cNvPr id="22" name="Attr_Type"/>
          <p:cNvSpPr txBox="1"/>
          <p:nvPr/>
        </p:nvSpPr>
        <p:spPr>
          <a:xfrm>
            <a:off x="1709928" y="2345436"/>
            <a:ext cx="950976" cy="237744"/>
          </a:xfrm>
          <a:prstGeom prst="rect">
            <a:avLst/>
          </a:prstGeom>
          <a:noFill/>
        </p:spPr>
        <p:txBody>
          <a:bodyPr wrap="square" lIns="0" rIns="0" tIns="0" bIns="0" anchor="ctr">
            <a:spAutoFit/>
          </a:bodyPr>
          <a:lstStyle/>
          <a:p>
            <a:pPr algn="r"/>
            <a:r>
              <a:rPr sz="850" b="0" i="0">
                <a:solidFill>
                  <a:srgbClr val="6B7785"/>
                </a:solidFill>
                <a:latin typeface="Calibri"/>
              </a:rPr>
              <a:t>char(60)</a:t>
            </a:r>
          </a:p>
        </p:txBody>
      </p:sp>
      <p:sp>
        <p:nvSpPr>
          <p:cNvPr id="23" name="Row"/>
          <p:cNvSpPr/>
          <p:nvPr/>
        </p:nvSpPr>
        <p:spPr>
          <a:xfrm>
            <a:off x="548640" y="2592324"/>
            <a:ext cx="2176272" cy="260603"/>
          </a:xfrm>
          <a:prstGeom prst="rect">
            <a:avLst/>
          </a:prstGeom>
          <a:solidFill>
            <a:srgbClr val="FFFFFF"/>
          </a:solidFill>
          <a:ln w="3175">
            <a:solidFill>
              <a:srgbClr val="FFFFFF"/>
            </a:solidFill>
          </a:ln>
          <a:effectLst/>
        </p:spPr>
        <p:txBody>
          <a:bodyPr rtlCol="0" anchor="ctr"/>
          <a:lstStyle/>
          <a:p>
            <a:pPr algn="ctr"/>
          </a:p>
        </p:txBody>
      </p:sp>
      <p:sp>
        <p:nvSpPr>
          <p:cNvPr id="24" name="Attr_Name"/>
          <p:cNvSpPr txBox="1"/>
          <p:nvPr/>
        </p:nvSpPr>
        <p:spPr>
          <a:xfrm>
            <a:off x="905256" y="2606040"/>
            <a:ext cx="1051560" cy="237744"/>
          </a:xfrm>
          <a:prstGeom prst="rect">
            <a:avLst/>
          </a:prstGeom>
          <a:noFill/>
        </p:spPr>
        <p:txBody>
          <a:bodyPr wrap="square" lIns="0" rIns="0" tIns="0" bIns="0" anchor="ctr">
            <a:spAutoFit/>
          </a:bodyPr>
          <a:lstStyle/>
          <a:p>
            <a:r>
              <a:rPr sz="1000" b="1" i="0">
                <a:solidFill>
                  <a:srgbClr val="1F2D3D"/>
                </a:solidFill>
                <a:latin typeface="Calibri"/>
              </a:rPr>
              <a:t>t_int1</a:t>
            </a:r>
          </a:p>
        </p:txBody>
      </p:sp>
      <p:sp>
        <p:nvSpPr>
          <p:cNvPr id="25" name="Attr_Type"/>
          <p:cNvSpPr txBox="1"/>
          <p:nvPr/>
        </p:nvSpPr>
        <p:spPr>
          <a:xfrm>
            <a:off x="1709928" y="2606040"/>
            <a:ext cx="950976" cy="237744"/>
          </a:xfrm>
          <a:prstGeom prst="rect">
            <a:avLst/>
          </a:prstGeom>
          <a:noFill/>
        </p:spPr>
        <p:txBody>
          <a:bodyPr wrap="square" lIns="0" rIns="0" tIns="0" bIns="0" anchor="ctr">
            <a:spAutoFit/>
          </a:bodyPr>
          <a:lstStyle/>
          <a:p>
            <a:pPr algn="r"/>
            <a:r>
              <a:rPr sz="850" b="0" i="0">
                <a:solidFill>
                  <a:srgbClr val="6B7785"/>
                </a:solidFill>
                <a:latin typeface="Calibri"/>
              </a:rPr>
              <a:t>abap.int1</a:t>
            </a:r>
          </a:p>
        </p:txBody>
      </p:sp>
      <p:sp>
        <p:nvSpPr>
          <p:cNvPr id="26" name="Row"/>
          <p:cNvSpPr/>
          <p:nvPr/>
        </p:nvSpPr>
        <p:spPr>
          <a:xfrm>
            <a:off x="548640" y="2852928"/>
            <a:ext cx="2176272" cy="260603"/>
          </a:xfrm>
          <a:prstGeom prst="rect">
            <a:avLst/>
          </a:prstGeom>
          <a:solidFill>
            <a:srgbClr val="E3EEF9"/>
          </a:solidFill>
          <a:ln w="3175">
            <a:solidFill>
              <a:srgbClr val="E3EEF9"/>
            </a:solidFill>
          </a:ln>
          <a:effectLst/>
        </p:spPr>
        <p:txBody>
          <a:bodyPr rtlCol="0" anchor="ctr"/>
          <a:lstStyle/>
          <a:p>
            <a:pPr algn="ctr"/>
          </a:p>
        </p:txBody>
      </p:sp>
      <p:sp>
        <p:nvSpPr>
          <p:cNvPr id="27" name="Attr_Name"/>
          <p:cNvSpPr txBox="1"/>
          <p:nvPr/>
        </p:nvSpPr>
        <p:spPr>
          <a:xfrm>
            <a:off x="905256" y="2866644"/>
            <a:ext cx="1051560" cy="237744"/>
          </a:xfrm>
          <a:prstGeom prst="rect">
            <a:avLst/>
          </a:prstGeom>
          <a:noFill/>
        </p:spPr>
        <p:txBody>
          <a:bodyPr wrap="square" lIns="0" rIns="0" tIns="0" bIns="0" anchor="ctr">
            <a:spAutoFit/>
          </a:bodyPr>
          <a:lstStyle/>
          <a:p>
            <a:r>
              <a:rPr sz="1000" b="1" i="0">
                <a:solidFill>
                  <a:srgbClr val="1F2D3D"/>
                </a:solidFill>
                <a:latin typeface="Calibri"/>
              </a:rPr>
              <a:t>t_int2</a:t>
            </a:r>
          </a:p>
        </p:txBody>
      </p:sp>
      <p:sp>
        <p:nvSpPr>
          <p:cNvPr id="28" name="Attr_Type"/>
          <p:cNvSpPr txBox="1"/>
          <p:nvPr/>
        </p:nvSpPr>
        <p:spPr>
          <a:xfrm>
            <a:off x="1709928" y="2866644"/>
            <a:ext cx="950976" cy="237744"/>
          </a:xfrm>
          <a:prstGeom prst="rect">
            <a:avLst/>
          </a:prstGeom>
          <a:noFill/>
        </p:spPr>
        <p:txBody>
          <a:bodyPr wrap="square" lIns="0" rIns="0" tIns="0" bIns="0" anchor="ctr">
            <a:spAutoFit/>
          </a:bodyPr>
          <a:lstStyle/>
          <a:p>
            <a:pPr algn="r"/>
            <a:r>
              <a:rPr sz="850" b="0" i="0">
                <a:solidFill>
                  <a:srgbClr val="6B7785"/>
                </a:solidFill>
                <a:latin typeface="Calibri"/>
              </a:rPr>
              <a:t>abap.int2</a:t>
            </a:r>
          </a:p>
        </p:txBody>
      </p:sp>
      <p:sp>
        <p:nvSpPr>
          <p:cNvPr id="29" name="Row"/>
          <p:cNvSpPr/>
          <p:nvPr/>
        </p:nvSpPr>
        <p:spPr>
          <a:xfrm>
            <a:off x="548640" y="3113532"/>
            <a:ext cx="2176272" cy="260603"/>
          </a:xfrm>
          <a:prstGeom prst="rect">
            <a:avLst/>
          </a:prstGeom>
          <a:solidFill>
            <a:srgbClr val="FFFFFF"/>
          </a:solidFill>
          <a:ln w="3175">
            <a:solidFill>
              <a:srgbClr val="FFFFFF"/>
            </a:solidFill>
          </a:ln>
          <a:effectLst/>
        </p:spPr>
        <p:txBody>
          <a:bodyPr rtlCol="0" anchor="ctr"/>
          <a:lstStyle/>
          <a:p>
            <a:pPr algn="ctr"/>
          </a:p>
        </p:txBody>
      </p:sp>
      <p:sp>
        <p:nvSpPr>
          <p:cNvPr id="30" name="Attr_Name"/>
          <p:cNvSpPr txBox="1"/>
          <p:nvPr/>
        </p:nvSpPr>
        <p:spPr>
          <a:xfrm>
            <a:off x="905256" y="3127248"/>
            <a:ext cx="1051560" cy="237744"/>
          </a:xfrm>
          <a:prstGeom prst="rect">
            <a:avLst/>
          </a:prstGeom>
          <a:noFill/>
        </p:spPr>
        <p:txBody>
          <a:bodyPr wrap="square" lIns="0" rIns="0" tIns="0" bIns="0" anchor="ctr">
            <a:spAutoFit/>
          </a:bodyPr>
          <a:lstStyle/>
          <a:p>
            <a:r>
              <a:rPr sz="1000" b="1" i="0">
                <a:solidFill>
                  <a:srgbClr val="1F2D3D"/>
                </a:solidFill>
                <a:latin typeface="Calibri"/>
              </a:rPr>
              <a:t>t_int4</a:t>
            </a:r>
          </a:p>
        </p:txBody>
      </p:sp>
      <p:sp>
        <p:nvSpPr>
          <p:cNvPr id="31" name="Attr_Type"/>
          <p:cNvSpPr txBox="1"/>
          <p:nvPr/>
        </p:nvSpPr>
        <p:spPr>
          <a:xfrm>
            <a:off x="1709928" y="3127248"/>
            <a:ext cx="950976" cy="237744"/>
          </a:xfrm>
          <a:prstGeom prst="rect">
            <a:avLst/>
          </a:prstGeom>
          <a:noFill/>
        </p:spPr>
        <p:txBody>
          <a:bodyPr wrap="square" lIns="0" rIns="0" tIns="0" bIns="0" anchor="ctr">
            <a:spAutoFit/>
          </a:bodyPr>
          <a:lstStyle/>
          <a:p>
            <a:pPr algn="r"/>
            <a:r>
              <a:rPr sz="850" b="0" i="0">
                <a:solidFill>
                  <a:srgbClr val="6B7785"/>
                </a:solidFill>
                <a:latin typeface="Calibri"/>
              </a:rPr>
              <a:t>abap.int4</a:t>
            </a:r>
          </a:p>
        </p:txBody>
      </p:sp>
      <p:sp>
        <p:nvSpPr>
          <p:cNvPr id="32" name="Row"/>
          <p:cNvSpPr/>
          <p:nvPr/>
        </p:nvSpPr>
        <p:spPr>
          <a:xfrm>
            <a:off x="548640" y="3374136"/>
            <a:ext cx="2176272" cy="260603"/>
          </a:xfrm>
          <a:prstGeom prst="rect">
            <a:avLst/>
          </a:prstGeom>
          <a:solidFill>
            <a:srgbClr val="E3EEF9"/>
          </a:solidFill>
          <a:ln w="3175">
            <a:solidFill>
              <a:srgbClr val="E3EEF9"/>
            </a:solidFill>
          </a:ln>
          <a:effectLst/>
        </p:spPr>
        <p:txBody>
          <a:bodyPr rtlCol="0" anchor="ctr"/>
          <a:lstStyle/>
          <a:p>
            <a:pPr algn="ctr"/>
          </a:p>
        </p:txBody>
      </p:sp>
      <p:sp>
        <p:nvSpPr>
          <p:cNvPr id="33" name="Attr_Name"/>
          <p:cNvSpPr txBox="1"/>
          <p:nvPr/>
        </p:nvSpPr>
        <p:spPr>
          <a:xfrm>
            <a:off x="905256" y="3387852"/>
            <a:ext cx="1051560" cy="237744"/>
          </a:xfrm>
          <a:prstGeom prst="rect">
            <a:avLst/>
          </a:prstGeom>
          <a:noFill/>
        </p:spPr>
        <p:txBody>
          <a:bodyPr wrap="square" lIns="0" rIns="0" tIns="0" bIns="0" anchor="ctr">
            <a:spAutoFit/>
          </a:bodyPr>
          <a:lstStyle/>
          <a:p>
            <a:r>
              <a:rPr sz="1000" b="1" i="0">
                <a:solidFill>
                  <a:srgbClr val="1F2D3D"/>
                </a:solidFill>
                <a:latin typeface="Calibri"/>
              </a:rPr>
              <a:t>t_int8</a:t>
            </a:r>
          </a:p>
        </p:txBody>
      </p:sp>
      <p:sp>
        <p:nvSpPr>
          <p:cNvPr id="34" name="Attr_Type"/>
          <p:cNvSpPr txBox="1"/>
          <p:nvPr/>
        </p:nvSpPr>
        <p:spPr>
          <a:xfrm>
            <a:off x="1709928" y="3387852"/>
            <a:ext cx="950976" cy="237744"/>
          </a:xfrm>
          <a:prstGeom prst="rect">
            <a:avLst/>
          </a:prstGeom>
          <a:noFill/>
        </p:spPr>
        <p:txBody>
          <a:bodyPr wrap="square" lIns="0" rIns="0" tIns="0" bIns="0" anchor="ctr">
            <a:spAutoFit/>
          </a:bodyPr>
          <a:lstStyle/>
          <a:p>
            <a:pPr algn="r"/>
            <a:r>
              <a:rPr sz="850" b="0" i="0">
                <a:solidFill>
                  <a:srgbClr val="6B7785"/>
                </a:solidFill>
                <a:latin typeface="Calibri"/>
              </a:rPr>
              <a:t>abap.int8</a:t>
            </a:r>
          </a:p>
        </p:txBody>
      </p:sp>
      <p:sp>
        <p:nvSpPr>
          <p:cNvPr id="35" name="Row"/>
          <p:cNvSpPr/>
          <p:nvPr/>
        </p:nvSpPr>
        <p:spPr>
          <a:xfrm>
            <a:off x="548640" y="3634739"/>
            <a:ext cx="2176272" cy="260603"/>
          </a:xfrm>
          <a:prstGeom prst="rect">
            <a:avLst/>
          </a:prstGeom>
          <a:solidFill>
            <a:srgbClr val="FFFFFF"/>
          </a:solidFill>
          <a:ln w="3175">
            <a:solidFill>
              <a:srgbClr val="FFFFFF"/>
            </a:solidFill>
          </a:ln>
          <a:effectLst/>
        </p:spPr>
        <p:txBody>
          <a:bodyPr rtlCol="0" anchor="ctr"/>
          <a:lstStyle/>
          <a:p>
            <a:pPr algn="ctr"/>
          </a:p>
        </p:txBody>
      </p:sp>
      <p:sp>
        <p:nvSpPr>
          <p:cNvPr id="36" name="Attr_Name"/>
          <p:cNvSpPr txBox="1"/>
          <p:nvPr/>
        </p:nvSpPr>
        <p:spPr>
          <a:xfrm>
            <a:off x="905256" y="3648456"/>
            <a:ext cx="1051560" cy="237744"/>
          </a:xfrm>
          <a:prstGeom prst="rect">
            <a:avLst/>
          </a:prstGeom>
          <a:noFill/>
        </p:spPr>
        <p:txBody>
          <a:bodyPr wrap="square" lIns="0" rIns="0" tIns="0" bIns="0" anchor="ctr">
            <a:spAutoFit/>
          </a:bodyPr>
          <a:lstStyle/>
          <a:p>
            <a:r>
              <a:rPr sz="1000" b="1" i="0">
                <a:solidFill>
                  <a:srgbClr val="1F2D3D"/>
                </a:solidFill>
                <a:latin typeface="Calibri"/>
              </a:rPr>
              <a:t>t_dec</a:t>
            </a:r>
          </a:p>
        </p:txBody>
      </p:sp>
      <p:sp>
        <p:nvSpPr>
          <p:cNvPr id="37" name="Attr_Type"/>
          <p:cNvSpPr txBox="1"/>
          <p:nvPr/>
        </p:nvSpPr>
        <p:spPr>
          <a:xfrm>
            <a:off x="1709928" y="3648456"/>
            <a:ext cx="950976" cy="237744"/>
          </a:xfrm>
          <a:prstGeom prst="rect">
            <a:avLst/>
          </a:prstGeom>
          <a:noFill/>
        </p:spPr>
        <p:txBody>
          <a:bodyPr wrap="square" lIns="0" rIns="0" tIns="0" bIns="0" anchor="ctr">
            <a:spAutoFit/>
          </a:bodyPr>
          <a:lstStyle/>
          <a:p>
            <a:pPr algn="r"/>
            <a:r>
              <a:rPr sz="850" b="0" i="0">
                <a:solidFill>
                  <a:srgbClr val="6B7785"/>
                </a:solidFill>
                <a:latin typeface="Calibri"/>
              </a:rPr>
              <a:t>dec(15,3)</a:t>
            </a:r>
          </a:p>
        </p:txBody>
      </p:sp>
      <p:sp>
        <p:nvSpPr>
          <p:cNvPr id="38" name="Row"/>
          <p:cNvSpPr/>
          <p:nvPr/>
        </p:nvSpPr>
        <p:spPr>
          <a:xfrm>
            <a:off x="548640" y="3895344"/>
            <a:ext cx="2176272" cy="260603"/>
          </a:xfrm>
          <a:prstGeom prst="rect">
            <a:avLst/>
          </a:prstGeom>
          <a:solidFill>
            <a:srgbClr val="E3EEF9"/>
          </a:solidFill>
          <a:ln w="3175">
            <a:solidFill>
              <a:srgbClr val="E3EEF9"/>
            </a:solidFill>
          </a:ln>
          <a:effectLst/>
        </p:spPr>
        <p:txBody>
          <a:bodyPr rtlCol="0" anchor="ctr"/>
          <a:lstStyle/>
          <a:p>
            <a:pPr algn="ctr"/>
          </a:p>
        </p:txBody>
      </p:sp>
      <p:sp>
        <p:nvSpPr>
          <p:cNvPr id="39" name="Attr_Name"/>
          <p:cNvSpPr txBox="1"/>
          <p:nvPr/>
        </p:nvSpPr>
        <p:spPr>
          <a:xfrm>
            <a:off x="905256" y="3909059"/>
            <a:ext cx="1051560" cy="237744"/>
          </a:xfrm>
          <a:prstGeom prst="rect">
            <a:avLst/>
          </a:prstGeom>
          <a:noFill/>
        </p:spPr>
        <p:txBody>
          <a:bodyPr wrap="square" lIns="0" rIns="0" tIns="0" bIns="0" anchor="ctr">
            <a:spAutoFit/>
          </a:bodyPr>
          <a:lstStyle/>
          <a:p>
            <a:r>
              <a:rPr sz="1000" b="1" i="0">
                <a:solidFill>
                  <a:srgbClr val="1F2D3D"/>
                </a:solidFill>
                <a:latin typeface="Calibri"/>
              </a:rPr>
              <a:t>t_dec2</a:t>
            </a:r>
          </a:p>
        </p:txBody>
      </p:sp>
      <p:sp>
        <p:nvSpPr>
          <p:cNvPr id="40" name="Attr_Type"/>
          <p:cNvSpPr txBox="1"/>
          <p:nvPr/>
        </p:nvSpPr>
        <p:spPr>
          <a:xfrm>
            <a:off x="1709928" y="3909059"/>
            <a:ext cx="950976" cy="237744"/>
          </a:xfrm>
          <a:prstGeom prst="rect">
            <a:avLst/>
          </a:prstGeom>
          <a:noFill/>
        </p:spPr>
        <p:txBody>
          <a:bodyPr wrap="square" lIns="0" rIns="0" tIns="0" bIns="0" anchor="ctr">
            <a:spAutoFit/>
          </a:bodyPr>
          <a:lstStyle/>
          <a:p>
            <a:pPr algn="r"/>
            <a:r>
              <a:rPr sz="850" b="0" i="0">
                <a:solidFill>
                  <a:srgbClr val="6B7785"/>
                </a:solidFill>
                <a:latin typeface="Calibri"/>
              </a:rPr>
              <a:t>dec(9,2)</a:t>
            </a:r>
          </a:p>
        </p:txBody>
      </p:sp>
      <p:sp>
        <p:nvSpPr>
          <p:cNvPr id="41" name="Row"/>
          <p:cNvSpPr/>
          <p:nvPr/>
        </p:nvSpPr>
        <p:spPr>
          <a:xfrm>
            <a:off x="548640" y="4155948"/>
            <a:ext cx="2176272" cy="260603"/>
          </a:xfrm>
          <a:prstGeom prst="rect">
            <a:avLst/>
          </a:prstGeom>
          <a:solidFill>
            <a:srgbClr val="FFFFFF"/>
          </a:solidFill>
          <a:ln w="3175">
            <a:solidFill>
              <a:srgbClr val="FFFFFF"/>
            </a:solidFill>
          </a:ln>
          <a:effectLst/>
        </p:spPr>
        <p:txBody>
          <a:bodyPr rtlCol="0" anchor="ctr"/>
          <a:lstStyle/>
          <a:p>
            <a:pPr algn="ctr"/>
          </a:p>
        </p:txBody>
      </p:sp>
      <p:sp>
        <p:nvSpPr>
          <p:cNvPr id="42" name="Attr_Name"/>
          <p:cNvSpPr txBox="1"/>
          <p:nvPr/>
        </p:nvSpPr>
        <p:spPr>
          <a:xfrm>
            <a:off x="905256" y="4169663"/>
            <a:ext cx="1051560" cy="237744"/>
          </a:xfrm>
          <a:prstGeom prst="rect">
            <a:avLst/>
          </a:prstGeom>
          <a:noFill/>
        </p:spPr>
        <p:txBody>
          <a:bodyPr wrap="square" lIns="0" rIns="0" tIns="0" bIns="0" anchor="ctr">
            <a:spAutoFit/>
          </a:bodyPr>
          <a:lstStyle/>
          <a:p>
            <a:r>
              <a:rPr sz="1000" b="1" i="0">
                <a:solidFill>
                  <a:srgbClr val="1F2D3D"/>
                </a:solidFill>
                <a:latin typeface="Calibri"/>
              </a:rPr>
              <a:t>t_df16</a:t>
            </a:r>
          </a:p>
        </p:txBody>
      </p:sp>
      <p:sp>
        <p:nvSpPr>
          <p:cNvPr id="43" name="Attr_Type"/>
          <p:cNvSpPr txBox="1"/>
          <p:nvPr/>
        </p:nvSpPr>
        <p:spPr>
          <a:xfrm>
            <a:off x="1709928" y="4169663"/>
            <a:ext cx="950976" cy="237744"/>
          </a:xfrm>
          <a:prstGeom prst="rect">
            <a:avLst/>
          </a:prstGeom>
          <a:noFill/>
        </p:spPr>
        <p:txBody>
          <a:bodyPr wrap="square" lIns="0" rIns="0" tIns="0" bIns="0" anchor="ctr">
            <a:spAutoFit/>
          </a:bodyPr>
          <a:lstStyle/>
          <a:p>
            <a:pPr algn="r"/>
            <a:r>
              <a:rPr sz="850" b="0" i="0">
                <a:solidFill>
                  <a:srgbClr val="6B7785"/>
                </a:solidFill>
                <a:latin typeface="Calibri"/>
              </a:rPr>
              <a:t>decfloat16</a:t>
            </a:r>
          </a:p>
        </p:txBody>
      </p:sp>
      <p:sp>
        <p:nvSpPr>
          <p:cNvPr id="44" name="Row"/>
          <p:cNvSpPr/>
          <p:nvPr/>
        </p:nvSpPr>
        <p:spPr>
          <a:xfrm>
            <a:off x="548640" y="4416552"/>
            <a:ext cx="2176272" cy="260603"/>
          </a:xfrm>
          <a:prstGeom prst="rect">
            <a:avLst/>
          </a:prstGeom>
          <a:solidFill>
            <a:srgbClr val="E3EEF9"/>
          </a:solidFill>
          <a:ln w="3175">
            <a:solidFill>
              <a:srgbClr val="E3EEF9"/>
            </a:solidFill>
          </a:ln>
          <a:effectLst/>
        </p:spPr>
        <p:txBody>
          <a:bodyPr rtlCol="0" anchor="ctr"/>
          <a:lstStyle/>
          <a:p>
            <a:pPr algn="ctr"/>
          </a:p>
        </p:txBody>
      </p:sp>
      <p:sp>
        <p:nvSpPr>
          <p:cNvPr id="45" name="Attr_Name"/>
          <p:cNvSpPr txBox="1"/>
          <p:nvPr/>
        </p:nvSpPr>
        <p:spPr>
          <a:xfrm>
            <a:off x="905256" y="4430268"/>
            <a:ext cx="1051560" cy="237744"/>
          </a:xfrm>
          <a:prstGeom prst="rect">
            <a:avLst/>
          </a:prstGeom>
          <a:noFill/>
        </p:spPr>
        <p:txBody>
          <a:bodyPr wrap="square" lIns="0" rIns="0" tIns="0" bIns="0" anchor="ctr">
            <a:spAutoFit/>
          </a:bodyPr>
          <a:lstStyle/>
          <a:p>
            <a:r>
              <a:rPr sz="1000" b="1" i="0">
                <a:solidFill>
                  <a:srgbClr val="1F2D3D"/>
                </a:solidFill>
                <a:latin typeface="Calibri"/>
              </a:rPr>
              <a:t>t_df34</a:t>
            </a:r>
          </a:p>
        </p:txBody>
      </p:sp>
      <p:sp>
        <p:nvSpPr>
          <p:cNvPr id="46" name="Attr_Type"/>
          <p:cNvSpPr txBox="1"/>
          <p:nvPr/>
        </p:nvSpPr>
        <p:spPr>
          <a:xfrm>
            <a:off x="1709928" y="4430268"/>
            <a:ext cx="950976" cy="237744"/>
          </a:xfrm>
          <a:prstGeom prst="rect">
            <a:avLst/>
          </a:prstGeom>
          <a:noFill/>
        </p:spPr>
        <p:txBody>
          <a:bodyPr wrap="square" lIns="0" rIns="0" tIns="0" bIns="0" anchor="ctr">
            <a:spAutoFit/>
          </a:bodyPr>
          <a:lstStyle/>
          <a:p>
            <a:pPr algn="r"/>
            <a:r>
              <a:rPr sz="850" b="0" i="0">
                <a:solidFill>
                  <a:srgbClr val="6B7785"/>
                </a:solidFill>
                <a:latin typeface="Calibri"/>
              </a:rPr>
              <a:t>decfloat34</a:t>
            </a:r>
          </a:p>
        </p:txBody>
      </p:sp>
      <p:sp>
        <p:nvSpPr>
          <p:cNvPr id="47" name="Row"/>
          <p:cNvSpPr/>
          <p:nvPr/>
        </p:nvSpPr>
        <p:spPr>
          <a:xfrm>
            <a:off x="548640" y="4677156"/>
            <a:ext cx="2176272" cy="260603"/>
          </a:xfrm>
          <a:prstGeom prst="rect">
            <a:avLst/>
          </a:prstGeom>
          <a:solidFill>
            <a:srgbClr val="FFFFFF"/>
          </a:solidFill>
          <a:ln w="3175">
            <a:solidFill>
              <a:srgbClr val="FFFFFF"/>
            </a:solidFill>
          </a:ln>
          <a:effectLst/>
        </p:spPr>
        <p:txBody>
          <a:bodyPr rtlCol="0" anchor="ctr"/>
          <a:lstStyle/>
          <a:p>
            <a:pPr algn="ctr"/>
          </a:p>
        </p:txBody>
      </p:sp>
      <p:sp>
        <p:nvSpPr>
          <p:cNvPr id="48" name="Attr_Name"/>
          <p:cNvSpPr txBox="1"/>
          <p:nvPr/>
        </p:nvSpPr>
        <p:spPr>
          <a:xfrm>
            <a:off x="905256" y="4690872"/>
            <a:ext cx="1051560" cy="237744"/>
          </a:xfrm>
          <a:prstGeom prst="rect">
            <a:avLst/>
          </a:prstGeom>
          <a:noFill/>
        </p:spPr>
        <p:txBody>
          <a:bodyPr wrap="square" lIns="0" rIns="0" tIns="0" bIns="0" anchor="ctr">
            <a:spAutoFit/>
          </a:bodyPr>
          <a:lstStyle/>
          <a:p>
            <a:r>
              <a:rPr sz="1000" b="1" i="0">
                <a:solidFill>
                  <a:srgbClr val="1F2D3D"/>
                </a:solidFill>
                <a:latin typeface="Calibri"/>
              </a:rPr>
              <a:t>t_fltp</a:t>
            </a:r>
          </a:p>
        </p:txBody>
      </p:sp>
      <p:sp>
        <p:nvSpPr>
          <p:cNvPr id="49" name="Attr_Type"/>
          <p:cNvSpPr txBox="1"/>
          <p:nvPr/>
        </p:nvSpPr>
        <p:spPr>
          <a:xfrm>
            <a:off x="1709928" y="4690872"/>
            <a:ext cx="950976" cy="237744"/>
          </a:xfrm>
          <a:prstGeom prst="rect">
            <a:avLst/>
          </a:prstGeom>
          <a:noFill/>
        </p:spPr>
        <p:txBody>
          <a:bodyPr wrap="square" lIns="0" rIns="0" tIns="0" bIns="0" anchor="ctr">
            <a:spAutoFit/>
          </a:bodyPr>
          <a:lstStyle/>
          <a:p>
            <a:pPr algn="r"/>
            <a:r>
              <a:rPr sz="850" b="0" i="0">
                <a:solidFill>
                  <a:srgbClr val="6B7785"/>
                </a:solidFill>
                <a:latin typeface="Calibri"/>
              </a:rPr>
              <a:t>abap.fltp</a:t>
            </a:r>
          </a:p>
        </p:txBody>
      </p:sp>
      <p:sp>
        <p:nvSpPr>
          <p:cNvPr id="50" name="Group_Band"/>
          <p:cNvSpPr/>
          <p:nvPr/>
        </p:nvSpPr>
        <p:spPr>
          <a:xfrm>
            <a:off x="2779776" y="1463040"/>
            <a:ext cx="2176272" cy="310896"/>
          </a:xfrm>
          <a:prstGeom prst="rect">
            <a:avLst/>
          </a:prstGeom>
          <a:solidFill>
            <a:srgbClr val="0D7377"/>
          </a:solidFill>
          <a:ln w="6350">
            <a:solidFill>
              <a:srgbClr val="0D7377"/>
            </a:solidFill>
          </a:ln>
          <a:effectLst/>
        </p:spPr>
        <p:txBody>
          <a:bodyPr rtlCol="0" anchor="ctr"/>
          <a:lstStyle/>
          <a:p>
            <a:pPr algn="ctr"/>
          </a:p>
        </p:txBody>
      </p:sp>
      <p:sp>
        <p:nvSpPr>
          <p:cNvPr id="51" name="Group_Name"/>
          <p:cNvSpPr txBox="1"/>
          <p:nvPr/>
        </p:nvSpPr>
        <p:spPr>
          <a:xfrm>
            <a:off x="2825496" y="1472184"/>
            <a:ext cx="1408176" cy="292608"/>
          </a:xfrm>
          <a:prstGeom prst="rect">
            <a:avLst/>
          </a:prstGeom>
          <a:noFill/>
        </p:spPr>
        <p:txBody>
          <a:bodyPr wrap="square" lIns="0" rIns="0" tIns="0" bIns="0" anchor="ctr">
            <a:spAutoFit/>
          </a:bodyPr>
          <a:lstStyle/>
          <a:p>
            <a:r>
              <a:rPr sz="1100" b="1" i="0">
                <a:solidFill>
                  <a:srgbClr val="FFFFFF"/>
                </a:solidFill>
                <a:latin typeface="Calibri"/>
              </a:rPr>
              <a:t>Characters</a:t>
            </a:r>
          </a:p>
        </p:txBody>
      </p:sp>
      <p:sp>
        <p:nvSpPr>
          <p:cNvPr id="52" name="Group_Count"/>
          <p:cNvSpPr txBox="1"/>
          <p:nvPr/>
        </p:nvSpPr>
        <p:spPr>
          <a:xfrm>
            <a:off x="4206240" y="1472184"/>
            <a:ext cx="685800" cy="292608"/>
          </a:xfrm>
          <a:prstGeom prst="rect">
            <a:avLst/>
          </a:prstGeom>
          <a:noFill/>
        </p:spPr>
        <p:txBody>
          <a:bodyPr wrap="square" lIns="0" rIns="0" tIns="0" bIns="0" anchor="ctr">
            <a:spAutoFit/>
          </a:bodyPr>
          <a:lstStyle/>
          <a:p>
            <a:pPr algn="r"/>
            <a:r>
              <a:rPr sz="900" b="0" i="0">
                <a:solidFill>
                  <a:srgbClr val="FFFFFF"/>
                </a:solidFill>
                <a:latin typeface="Calibri"/>
              </a:rPr>
              <a:t>9 cols</a:t>
            </a:r>
          </a:p>
        </p:txBody>
      </p:sp>
      <p:sp>
        <p:nvSpPr>
          <p:cNvPr id="53" name="Row"/>
          <p:cNvSpPr/>
          <p:nvPr/>
        </p:nvSpPr>
        <p:spPr>
          <a:xfrm>
            <a:off x="2779776" y="1810512"/>
            <a:ext cx="2176272" cy="260603"/>
          </a:xfrm>
          <a:prstGeom prst="rect">
            <a:avLst/>
          </a:prstGeom>
          <a:solidFill>
            <a:srgbClr val="E0F1F1"/>
          </a:solidFill>
          <a:ln w="3175">
            <a:solidFill>
              <a:srgbClr val="E0F1F1"/>
            </a:solidFill>
          </a:ln>
          <a:effectLst/>
        </p:spPr>
        <p:txBody>
          <a:bodyPr rtlCol="0" anchor="ctr"/>
          <a:lstStyle/>
          <a:p>
            <a:pPr algn="ctr"/>
          </a:p>
        </p:txBody>
      </p:sp>
      <p:sp>
        <p:nvSpPr>
          <p:cNvPr id="54" name="Attr_Name"/>
          <p:cNvSpPr txBox="1"/>
          <p:nvPr/>
        </p:nvSpPr>
        <p:spPr>
          <a:xfrm>
            <a:off x="3136392" y="1824228"/>
            <a:ext cx="1051560" cy="237744"/>
          </a:xfrm>
          <a:prstGeom prst="rect">
            <a:avLst/>
          </a:prstGeom>
          <a:noFill/>
        </p:spPr>
        <p:txBody>
          <a:bodyPr wrap="square" lIns="0" rIns="0" tIns="0" bIns="0" anchor="ctr">
            <a:spAutoFit/>
          </a:bodyPr>
          <a:lstStyle/>
          <a:p>
            <a:r>
              <a:rPr sz="1000" b="1" i="0">
                <a:solidFill>
                  <a:srgbClr val="1F2D3D"/>
                </a:solidFill>
                <a:latin typeface="Calibri"/>
              </a:rPr>
              <a:t>t_char1</a:t>
            </a:r>
          </a:p>
        </p:txBody>
      </p:sp>
      <p:sp>
        <p:nvSpPr>
          <p:cNvPr id="55" name="Attr_Type"/>
          <p:cNvSpPr txBox="1"/>
          <p:nvPr/>
        </p:nvSpPr>
        <p:spPr>
          <a:xfrm>
            <a:off x="3941064" y="1824228"/>
            <a:ext cx="950976" cy="237744"/>
          </a:xfrm>
          <a:prstGeom prst="rect">
            <a:avLst/>
          </a:prstGeom>
          <a:noFill/>
        </p:spPr>
        <p:txBody>
          <a:bodyPr wrap="square" lIns="0" rIns="0" tIns="0" bIns="0" anchor="ctr">
            <a:spAutoFit/>
          </a:bodyPr>
          <a:lstStyle/>
          <a:p>
            <a:pPr algn="r"/>
            <a:r>
              <a:rPr sz="850" b="0" i="0">
                <a:solidFill>
                  <a:srgbClr val="6B7785"/>
                </a:solidFill>
                <a:latin typeface="Calibri"/>
              </a:rPr>
              <a:t>char(1)</a:t>
            </a:r>
          </a:p>
        </p:txBody>
      </p:sp>
      <p:sp>
        <p:nvSpPr>
          <p:cNvPr id="56" name="Row"/>
          <p:cNvSpPr/>
          <p:nvPr/>
        </p:nvSpPr>
        <p:spPr>
          <a:xfrm>
            <a:off x="2779776" y="2071116"/>
            <a:ext cx="2176272" cy="260603"/>
          </a:xfrm>
          <a:prstGeom prst="rect">
            <a:avLst/>
          </a:prstGeom>
          <a:solidFill>
            <a:srgbClr val="FFFFFF"/>
          </a:solidFill>
          <a:ln w="3175">
            <a:solidFill>
              <a:srgbClr val="FFFFFF"/>
            </a:solidFill>
          </a:ln>
          <a:effectLst/>
        </p:spPr>
        <p:txBody>
          <a:bodyPr rtlCol="0" anchor="ctr"/>
          <a:lstStyle/>
          <a:p>
            <a:pPr algn="ctr"/>
          </a:p>
        </p:txBody>
      </p:sp>
      <p:sp>
        <p:nvSpPr>
          <p:cNvPr id="57" name="Attr_Name"/>
          <p:cNvSpPr txBox="1"/>
          <p:nvPr/>
        </p:nvSpPr>
        <p:spPr>
          <a:xfrm>
            <a:off x="3136392" y="2084832"/>
            <a:ext cx="1051560" cy="237744"/>
          </a:xfrm>
          <a:prstGeom prst="rect">
            <a:avLst/>
          </a:prstGeom>
          <a:noFill/>
        </p:spPr>
        <p:txBody>
          <a:bodyPr wrap="square" lIns="0" rIns="0" tIns="0" bIns="0" anchor="ctr">
            <a:spAutoFit/>
          </a:bodyPr>
          <a:lstStyle/>
          <a:p>
            <a:r>
              <a:rPr sz="1000" b="1" i="0">
                <a:solidFill>
                  <a:srgbClr val="1F2D3D"/>
                </a:solidFill>
                <a:latin typeface="Calibri"/>
              </a:rPr>
              <a:t>t_char3</a:t>
            </a:r>
          </a:p>
        </p:txBody>
      </p:sp>
      <p:sp>
        <p:nvSpPr>
          <p:cNvPr id="58" name="Attr_Type"/>
          <p:cNvSpPr txBox="1"/>
          <p:nvPr/>
        </p:nvSpPr>
        <p:spPr>
          <a:xfrm>
            <a:off x="3941064" y="2084832"/>
            <a:ext cx="950976" cy="237744"/>
          </a:xfrm>
          <a:prstGeom prst="rect">
            <a:avLst/>
          </a:prstGeom>
          <a:noFill/>
        </p:spPr>
        <p:txBody>
          <a:bodyPr wrap="square" lIns="0" rIns="0" tIns="0" bIns="0" anchor="ctr">
            <a:spAutoFit/>
          </a:bodyPr>
          <a:lstStyle/>
          <a:p>
            <a:pPr algn="r"/>
            <a:r>
              <a:rPr sz="850" b="0" i="0">
                <a:solidFill>
                  <a:srgbClr val="6B7785"/>
                </a:solidFill>
                <a:latin typeface="Calibri"/>
              </a:rPr>
              <a:t>char(3)</a:t>
            </a:r>
          </a:p>
        </p:txBody>
      </p:sp>
      <p:sp>
        <p:nvSpPr>
          <p:cNvPr id="59" name="Row"/>
          <p:cNvSpPr/>
          <p:nvPr/>
        </p:nvSpPr>
        <p:spPr>
          <a:xfrm>
            <a:off x="2779776" y="2331720"/>
            <a:ext cx="2176272" cy="260603"/>
          </a:xfrm>
          <a:prstGeom prst="rect">
            <a:avLst/>
          </a:prstGeom>
          <a:solidFill>
            <a:srgbClr val="E0F1F1"/>
          </a:solidFill>
          <a:ln w="3175">
            <a:solidFill>
              <a:srgbClr val="E0F1F1"/>
            </a:solidFill>
          </a:ln>
          <a:effectLst/>
        </p:spPr>
        <p:txBody>
          <a:bodyPr rtlCol="0" anchor="ctr"/>
          <a:lstStyle/>
          <a:p>
            <a:pPr algn="ctr"/>
          </a:p>
        </p:txBody>
      </p:sp>
      <p:sp>
        <p:nvSpPr>
          <p:cNvPr id="60" name="Attr_Name"/>
          <p:cNvSpPr txBox="1"/>
          <p:nvPr/>
        </p:nvSpPr>
        <p:spPr>
          <a:xfrm>
            <a:off x="3136392" y="2345436"/>
            <a:ext cx="1051560" cy="237744"/>
          </a:xfrm>
          <a:prstGeom prst="rect">
            <a:avLst/>
          </a:prstGeom>
          <a:noFill/>
        </p:spPr>
        <p:txBody>
          <a:bodyPr wrap="square" lIns="0" rIns="0" tIns="0" bIns="0" anchor="ctr">
            <a:spAutoFit/>
          </a:bodyPr>
          <a:lstStyle/>
          <a:p>
            <a:r>
              <a:rPr sz="1000" b="1" i="0">
                <a:solidFill>
                  <a:srgbClr val="1F2D3D"/>
                </a:solidFill>
                <a:latin typeface="Calibri"/>
              </a:rPr>
              <a:t>t_char5</a:t>
            </a:r>
          </a:p>
        </p:txBody>
      </p:sp>
      <p:sp>
        <p:nvSpPr>
          <p:cNvPr id="61" name="Attr_Type"/>
          <p:cNvSpPr txBox="1"/>
          <p:nvPr/>
        </p:nvSpPr>
        <p:spPr>
          <a:xfrm>
            <a:off x="3941064" y="2345436"/>
            <a:ext cx="950976" cy="237744"/>
          </a:xfrm>
          <a:prstGeom prst="rect">
            <a:avLst/>
          </a:prstGeom>
          <a:noFill/>
        </p:spPr>
        <p:txBody>
          <a:bodyPr wrap="square" lIns="0" rIns="0" tIns="0" bIns="0" anchor="ctr">
            <a:spAutoFit/>
          </a:bodyPr>
          <a:lstStyle/>
          <a:p>
            <a:pPr algn="r"/>
            <a:r>
              <a:rPr sz="850" b="0" i="0">
                <a:solidFill>
                  <a:srgbClr val="6B7785"/>
                </a:solidFill>
                <a:latin typeface="Calibri"/>
              </a:rPr>
              <a:t>char(5)</a:t>
            </a:r>
          </a:p>
        </p:txBody>
      </p:sp>
      <p:sp>
        <p:nvSpPr>
          <p:cNvPr id="62" name="Row"/>
          <p:cNvSpPr/>
          <p:nvPr/>
        </p:nvSpPr>
        <p:spPr>
          <a:xfrm>
            <a:off x="2779776" y="2592324"/>
            <a:ext cx="2176272" cy="260603"/>
          </a:xfrm>
          <a:prstGeom prst="rect">
            <a:avLst/>
          </a:prstGeom>
          <a:solidFill>
            <a:srgbClr val="FFFFFF"/>
          </a:solidFill>
          <a:ln w="3175">
            <a:solidFill>
              <a:srgbClr val="FFFFFF"/>
            </a:solidFill>
          </a:ln>
          <a:effectLst/>
        </p:spPr>
        <p:txBody>
          <a:bodyPr rtlCol="0" anchor="ctr"/>
          <a:lstStyle/>
          <a:p>
            <a:pPr algn="ctr"/>
          </a:p>
        </p:txBody>
      </p:sp>
      <p:sp>
        <p:nvSpPr>
          <p:cNvPr id="63" name="Pair_Marker"/>
          <p:cNvSpPr/>
          <p:nvPr/>
        </p:nvSpPr>
        <p:spPr>
          <a:xfrm>
            <a:off x="2880360" y="2660904"/>
            <a:ext cx="118872" cy="118872"/>
          </a:xfrm>
          <a:prstGeom prst="ellipse">
            <a:avLst/>
          </a:prstGeom>
          <a:solidFill>
            <a:srgbClr val="16A085"/>
          </a:solidFill>
          <a:ln w="6350">
            <a:solidFill>
              <a:srgbClr val="16A085"/>
            </a:solidFill>
          </a:ln>
          <a:effectLst/>
        </p:spPr>
        <p:txBody>
          <a:bodyPr rtlCol="0" anchor="ctr"/>
          <a:lstStyle/>
          <a:p>
            <a:pPr algn="ctr"/>
          </a:p>
        </p:txBody>
      </p:sp>
      <p:sp>
        <p:nvSpPr>
          <p:cNvPr id="64" name="Attr_Name"/>
          <p:cNvSpPr txBox="1"/>
          <p:nvPr/>
        </p:nvSpPr>
        <p:spPr>
          <a:xfrm>
            <a:off x="3136392" y="2606040"/>
            <a:ext cx="1051560" cy="237744"/>
          </a:xfrm>
          <a:prstGeom prst="rect">
            <a:avLst/>
          </a:prstGeom>
          <a:noFill/>
        </p:spPr>
        <p:txBody>
          <a:bodyPr wrap="square" lIns="0" rIns="0" tIns="0" bIns="0" anchor="ctr">
            <a:spAutoFit/>
          </a:bodyPr>
          <a:lstStyle/>
          <a:p>
            <a:r>
              <a:rPr sz="1000" b="1" i="0">
                <a:solidFill>
                  <a:srgbClr val="1F2D3D"/>
                </a:solidFill>
                <a:latin typeface="Calibri"/>
              </a:rPr>
              <a:t>t_char6</a:t>
            </a:r>
          </a:p>
        </p:txBody>
      </p:sp>
      <p:sp>
        <p:nvSpPr>
          <p:cNvPr id="65" name="Attr_Type"/>
          <p:cNvSpPr txBox="1"/>
          <p:nvPr/>
        </p:nvSpPr>
        <p:spPr>
          <a:xfrm>
            <a:off x="3941064" y="2606040"/>
            <a:ext cx="950976" cy="237744"/>
          </a:xfrm>
          <a:prstGeom prst="rect">
            <a:avLst/>
          </a:prstGeom>
          <a:noFill/>
        </p:spPr>
        <p:txBody>
          <a:bodyPr wrap="square" lIns="0" rIns="0" tIns="0" bIns="0" anchor="ctr">
            <a:spAutoFit/>
          </a:bodyPr>
          <a:lstStyle/>
          <a:p>
            <a:pPr algn="r"/>
            <a:r>
              <a:rPr sz="850" b="0" i="0">
                <a:solidFill>
                  <a:srgbClr val="6B7785"/>
                </a:solidFill>
                <a:latin typeface="Calibri"/>
              </a:rPr>
              <a:t>char(6)</a:t>
            </a:r>
          </a:p>
        </p:txBody>
      </p:sp>
      <p:sp>
        <p:nvSpPr>
          <p:cNvPr id="66" name="Row"/>
          <p:cNvSpPr/>
          <p:nvPr/>
        </p:nvSpPr>
        <p:spPr>
          <a:xfrm>
            <a:off x="2779776" y="2852928"/>
            <a:ext cx="2176272" cy="260603"/>
          </a:xfrm>
          <a:prstGeom prst="rect">
            <a:avLst/>
          </a:prstGeom>
          <a:solidFill>
            <a:srgbClr val="E0F1F1"/>
          </a:solidFill>
          <a:ln w="3175">
            <a:solidFill>
              <a:srgbClr val="E0F1F1"/>
            </a:solidFill>
          </a:ln>
          <a:effectLst/>
        </p:spPr>
        <p:txBody>
          <a:bodyPr rtlCol="0" anchor="ctr"/>
          <a:lstStyle/>
          <a:p>
            <a:pPr algn="ctr"/>
          </a:p>
        </p:txBody>
      </p:sp>
      <p:sp>
        <p:nvSpPr>
          <p:cNvPr id="67" name="Pair_Marker"/>
          <p:cNvSpPr/>
          <p:nvPr/>
        </p:nvSpPr>
        <p:spPr>
          <a:xfrm>
            <a:off x="2880360" y="2921508"/>
            <a:ext cx="118872" cy="118872"/>
          </a:xfrm>
          <a:prstGeom prst="ellipse">
            <a:avLst/>
          </a:prstGeom>
          <a:solidFill>
            <a:srgbClr val="E67E22"/>
          </a:solidFill>
          <a:ln w="6350">
            <a:solidFill>
              <a:srgbClr val="E67E22"/>
            </a:solidFill>
          </a:ln>
          <a:effectLst/>
        </p:spPr>
        <p:txBody>
          <a:bodyPr rtlCol="0" anchor="ctr"/>
          <a:lstStyle/>
          <a:p>
            <a:pPr algn="ctr"/>
          </a:p>
        </p:txBody>
      </p:sp>
      <p:sp>
        <p:nvSpPr>
          <p:cNvPr id="68" name="Attr_Name"/>
          <p:cNvSpPr txBox="1"/>
          <p:nvPr/>
        </p:nvSpPr>
        <p:spPr>
          <a:xfrm>
            <a:off x="3136392" y="2866644"/>
            <a:ext cx="1051560" cy="237744"/>
          </a:xfrm>
          <a:prstGeom prst="rect">
            <a:avLst/>
          </a:prstGeom>
          <a:noFill/>
        </p:spPr>
        <p:txBody>
          <a:bodyPr wrap="square" lIns="0" rIns="0" tIns="0" bIns="0" anchor="ctr">
            <a:spAutoFit/>
          </a:bodyPr>
          <a:lstStyle/>
          <a:p>
            <a:r>
              <a:rPr sz="1000" b="1" i="0">
                <a:solidFill>
                  <a:srgbClr val="1F2D3D"/>
                </a:solidFill>
                <a:latin typeface="Calibri"/>
              </a:rPr>
              <a:t>t_char8</a:t>
            </a:r>
          </a:p>
        </p:txBody>
      </p:sp>
      <p:sp>
        <p:nvSpPr>
          <p:cNvPr id="69" name="Attr_Type"/>
          <p:cNvSpPr txBox="1"/>
          <p:nvPr/>
        </p:nvSpPr>
        <p:spPr>
          <a:xfrm>
            <a:off x="3941064" y="2866644"/>
            <a:ext cx="950976" cy="237744"/>
          </a:xfrm>
          <a:prstGeom prst="rect">
            <a:avLst/>
          </a:prstGeom>
          <a:noFill/>
        </p:spPr>
        <p:txBody>
          <a:bodyPr wrap="square" lIns="0" rIns="0" tIns="0" bIns="0" anchor="ctr">
            <a:spAutoFit/>
          </a:bodyPr>
          <a:lstStyle/>
          <a:p>
            <a:pPr algn="r"/>
            <a:r>
              <a:rPr sz="850" b="0" i="0">
                <a:solidFill>
                  <a:srgbClr val="6B7785"/>
                </a:solidFill>
                <a:latin typeface="Calibri"/>
              </a:rPr>
              <a:t>char(8)</a:t>
            </a:r>
          </a:p>
        </p:txBody>
      </p:sp>
      <p:sp>
        <p:nvSpPr>
          <p:cNvPr id="70" name="Row"/>
          <p:cNvSpPr/>
          <p:nvPr/>
        </p:nvSpPr>
        <p:spPr>
          <a:xfrm>
            <a:off x="2779776" y="3113532"/>
            <a:ext cx="2176272" cy="260603"/>
          </a:xfrm>
          <a:prstGeom prst="rect">
            <a:avLst/>
          </a:prstGeom>
          <a:solidFill>
            <a:srgbClr val="FFFFFF"/>
          </a:solidFill>
          <a:ln w="3175">
            <a:solidFill>
              <a:srgbClr val="FFFFFF"/>
            </a:solidFill>
          </a:ln>
          <a:effectLst/>
        </p:spPr>
        <p:txBody>
          <a:bodyPr rtlCol="0" anchor="ctr"/>
          <a:lstStyle/>
          <a:p>
            <a:pPr algn="ctr"/>
          </a:p>
        </p:txBody>
      </p:sp>
      <p:sp>
        <p:nvSpPr>
          <p:cNvPr id="71" name="Pair_Marker"/>
          <p:cNvSpPr/>
          <p:nvPr/>
        </p:nvSpPr>
        <p:spPr>
          <a:xfrm>
            <a:off x="2880360" y="3182112"/>
            <a:ext cx="118872" cy="118872"/>
          </a:xfrm>
          <a:prstGeom prst="ellipse">
            <a:avLst/>
          </a:prstGeom>
          <a:solidFill>
            <a:srgbClr val="8E44AD"/>
          </a:solidFill>
          <a:ln w="6350">
            <a:solidFill>
              <a:srgbClr val="8E44AD"/>
            </a:solidFill>
          </a:ln>
          <a:effectLst/>
        </p:spPr>
        <p:txBody>
          <a:bodyPr rtlCol="0" anchor="ctr"/>
          <a:lstStyle/>
          <a:p>
            <a:pPr algn="ctr"/>
          </a:p>
        </p:txBody>
      </p:sp>
      <p:sp>
        <p:nvSpPr>
          <p:cNvPr id="72" name="Attr_Name"/>
          <p:cNvSpPr txBox="1"/>
          <p:nvPr/>
        </p:nvSpPr>
        <p:spPr>
          <a:xfrm>
            <a:off x="3136392" y="3127248"/>
            <a:ext cx="1051560" cy="237744"/>
          </a:xfrm>
          <a:prstGeom prst="rect">
            <a:avLst/>
          </a:prstGeom>
          <a:noFill/>
        </p:spPr>
        <p:txBody>
          <a:bodyPr wrap="square" lIns="0" rIns="0" tIns="0" bIns="0" anchor="ctr">
            <a:spAutoFit/>
          </a:bodyPr>
          <a:lstStyle/>
          <a:p>
            <a:r>
              <a:rPr sz="1000" b="1" i="0">
                <a:solidFill>
                  <a:srgbClr val="1F2D3D"/>
                </a:solidFill>
                <a:latin typeface="Calibri"/>
              </a:rPr>
              <a:t>t_char10</a:t>
            </a:r>
          </a:p>
        </p:txBody>
      </p:sp>
      <p:sp>
        <p:nvSpPr>
          <p:cNvPr id="73" name="Attr_Type"/>
          <p:cNvSpPr txBox="1"/>
          <p:nvPr/>
        </p:nvSpPr>
        <p:spPr>
          <a:xfrm>
            <a:off x="3941064" y="3127248"/>
            <a:ext cx="950976" cy="237744"/>
          </a:xfrm>
          <a:prstGeom prst="rect">
            <a:avLst/>
          </a:prstGeom>
          <a:noFill/>
        </p:spPr>
        <p:txBody>
          <a:bodyPr wrap="square" lIns="0" rIns="0" tIns="0" bIns="0" anchor="ctr">
            <a:spAutoFit/>
          </a:bodyPr>
          <a:lstStyle/>
          <a:p>
            <a:pPr algn="r"/>
            <a:r>
              <a:rPr sz="850" b="0" i="0">
                <a:solidFill>
                  <a:srgbClr val="6B7785"/>
                </a:solidFill>
                <a:latin typeface="Calibri"/>
              </a:rPr>
              <a:t>char(10)</a:t>
            </a:r>
          </a:p>
        </p:txBody>
      </p:sp>
      <p:sp>
        <p:nvSpPr>
          <p:cNvPr id="74" name="Row"/>
          <p:cNvSpPr/>
          <p:nvPr/>
        </p:nvSpPr>
        <p:spPr>
          <a:xfrm>
            <a:off x="2779776" y="3374136"/>
            <a:ext cx="2176272" cy="260603"/>
          </a:xfrm>
          <a:prstGeom prst="rect">
            <a:avLst/>
          </a:prstGeom>
          <a:solidFill>
            <a:srgbClr val="E0F1F1"/>
          </a:solidFill>
          <a:ln w="3175">
            <a:solidFill>
              <a:srgbClr val="E0F1F1"/>
            </a:solidFill>
          </a:ln>
          <a:effectLst/>
        </p:spPr>
        <p:txBody>
          <a:bodyPr rtlCol="0" anchor="ctr"/>
          <a:lstStyle/>
          <a:p>
            <a:pPr algn="ctr"/>
          </a:p>
        </p:txBody>
      </p:sp>
      <p:sp>
        <p:nvSpPr>
          <p:cNvPr id="75" name="Attr_Name"/>
          <p:cNvSpPr txBox="1"/>
          <p:nvPr/>
        </p:nvSpPr>
        <p:spPr>
          <a:xfrm>
            <a:off x="3136392" y="3387852"/>
            <a:ext cx="1051560" cy="237744"/>
          </a:xfrm>
          <a:prstGeom prst="rect">
            <a:avLst/>
          </a:prstGeom>
          <a:noFill/>
        </p:spPr>
        <p:txBody>
          <a:bodyPr wrap="square" lIns="0" rIns="0" tIns="0" bIns="0" anchor="ctr">
            <a:spAutoFit/>
          </a:bodyPr>
          <a:lstStyle/>
          <a:p>
            <a:r>
              <a:rPr sz="1000" b="1" i="0">
                <a:solidFill>
                  <a:srgbClr val="1F2D3D"/>
                </a:solidFill>
                <a:latin typeface="Calibri"/>
              </a:rPr>
              <a:t>t_char30</a:t>
            </a:r>
          </a:p>
        </p:txBody>
      </p:sp>
      <p:sp>
        <p:nvSpPr>
          <p:cNvPr id="76" name="Attr_Type"/>
          <p:cNvSpPr txBox="1"/>
          <p:nvPr/>
        </p:nvSpPr>
        <p:spPr>
          <a:xfrm>
            <a:off x="3941064" y="3387852"/>
            <a:ext cx="950976" cy="237744"/>
          </a:xfrm>
          <a:prstGeom prst="rect">
            <a:avLst/>
          </a:prstGeom>
          <a:noFill/>
        </p:spPr>
        <p:txBody>
          <a:bodyPr wrap="square" lIns="0" rIns="0" tIns="0" bIns="0" anchor="ctr">
            <a:spAutoFit/>
          </a:bodyPr>
          <a:lstStyle/>
          <a:p>
            <a:pPr algn="r"/>
            <a:r>
              <a:rPr sz="850" b="0" i="0">
                <a:solidFill>
                  <a:srgbClr val="6B7785"/>
                </a:solidFill>
                <a:latin typeface="Calibri"/>
              </a:rPr>
              <a:t>char(30)</a:t>
            </a:r>
          </a:p>
        </p:txBody>
      </p:sp>
      <p:sp>
        <p:nvSpPr>
          <p:cNvPr id="77" name="Row"/>
          <p:cNvSpPr/>
          <p:nvPr/>
        </p:nvSpPr>
        <p:spPr>
          <a:xfrm>
            <a:off x="2779776" y="3634739"/>
            <a:ext cx="2176272" cy="260603"/>
          </a:xfrm>
          <a:prstGeom prst="rect">
            <a:avLst/>
          </a:prstGeom>
          <a:solidFill>
            <a:srgbClr val="FFFFFF"/>
          </a:solidFill>
          <a:ln w="3175">
            <a:solidFill>
              <a:srgbClr val="FFFFFF"/>
            </a:solidFill>
          </a:ln>
          <a:effectLst/>
        </p:spPr>
        <p:txBody>
          <a:bodyPr rtlCol="0" anchor="ctr"/>
          <a:lstStyle/>
          <a:p>
            <a:pPr algn="ctr"/>
          </a:p>
        </p:txBody>
      </p:sp>
      <p:sp>
        <p:nvSpPr>
          <p:cNvPr id="78" name="Attr_Name"/>
          <p:cNvSpPr txBox="1"/>
          <p:nvPr/>
        </p:nvSpPr>
        <p:spPr>
          <a:xfrm>
            <a:off x="3136392" y="3648456"/>
            <a:ext cx="1051560" cy="237744"/>
          </a:xfrm>
          <a:prstGeom prst="rect">
            <a:avLst/>
          </a:prstGeom>
          <a:noFill/>
        </p:spPr>
        <p:txBody>
          <a:bodyPr wrap="square" lIns="0" rIns="0" tIns="0" bIns="0" anchor="ctr">
            <a:spAutoFit/>
          </a:bodyPr>
          <a:lstStyle/>
          <a:p>
            <a:r>
              <a:rPr sz="1000" b="1" i="0">
                <a:solidFill>
                  <a:srgbClr val="1F2D3D"/>
                </a:solidFill>
                <a:latin typeface="Calibri"/>
              </a:rPr>
              <a:t>t_sstr</a:t>
            </a:r>
          </a:p>
        </p:txBody>
      </p:sp>
      <p:sp>
        <p:nvSpPr>
          <p:cNvPr id="79" name="Attr_Type"/>
          <p:cNvSpPr txBox="1"/>
          <p:nvPr/>
        </p:nvSpPr>
        <p:spPr>
          <a:xfrm>
            <a:off x="3941064" y="3648456"/>
            <a:ext cx="950976" cy="237744"/>
          </a:xfrm>
          <a:prstGeom prst="rect">
            <a:avLst/>
          </a:prstGeom>
          <a:noFill/>
        </p:spPr>
        <p:txBody>
          <a:bodyPr wrap="square" lIns="0" rIns="0" tIns="0" bIns="0" anchor="ctr">
            <a:spAutoFit/>
          </a:bodyPr>
          <a:lstStyle/>
          <a:p>
            <a:pPr algn="r"/>
            <a:r>
              <a:rPr sz="850" b="0" i="0">
                <a:solidFill>
                  <a:srgbClr val="6B7785"/>
                </a:solidFill>
                <a:latin typeface="Calibri"/>
              </a:rPr>
              <a:t>sstring(60)</a:t>
            </a:r>
          </a:p>
        </p:txBody>
      </p:sp>
      <p:sp>
        <p:nvSpPr>
          <p:cNvPr id="80" name="Row"/>
          <p:cNvSpPr/>
          <p:nvPr/>
        </p:nvSpPr>
        <p:spPr>
          <a:xfrm>
            <a:off x="2779776" y="3895344"/>
            <a:ext cx="2176272" cy="260603"/>
          </a:xfrm>
          <a:prstGeom prst="rect">
            <a:avLst/>
          </a:prstGeom>
          <a:solidFill>
            <a:srgbClr val="E0F1F1"/>
          </a:solidFill>
          <a:ln w="3175">
            <a:solidFill>
              <a:srgbClr val="E0F1F1"/>
            </a:solidFill>
          </a:ln>
          <a:effectLst/>
        </p:spPr>
        <p:txBody>
          <a:bodyPr rtlCol="0" anchor="ctr"/>
          <a:lstStyle/>
          <a:p>
            <a:pPr algn="ctr"/>
          </a:p>
        </p:txBody>
      </p:sp>
      <p:sp>
        <p:nvSpPr>
          <p:cNvPr id="81" name="Attr_Name"/>
          <p:cNvSpPr txBox="1"/>
          <p:nvPr/>
        </p:nvSpPr>
        <p:spPr>
          <a:xfrm>
            <a:off x="3136392" y="3909059"/>
            <a:ext cx="1051560" cy="237744"/>
          </a:xfrm>
          <a:prstGeom prst="rect">
            <a:avLst/>
          </a:prstGeom>
          <a:noFill/>
        </p:spPr>
        <p:txBody>
          <a:bodyPr wrap="square" lIns="0" rIns="0" tIns="0" bIns="0" anchor="ctr">
            <a:spAutoFit/>
          </a:bodyPr>
          <a:lstStyle/>
          <a:p>
            <a:r>
              <a:rPr sz="1000" b="1" i="0">
                <a:solidFill>
                  <a:srgbClr val="1F2D3D"/>
                </a:solidFill>
                <a:latin typeface="Calibri"/>
              </a:rPr>
              <a:t>t_str</a:t>
            </a:r>
          </a:p>
        </p:txBody>
      </p:sp>
      <p:sp>
        <p:nvSpPr>
          <p:cNvPr id="82" name="Attr_Type"/>
          <p:cNvSpPr txBox="1"/>
          <p:nvPr/>
        </p:nvSpPr>
        <p:spPr>
          <a:xfrm>
            <a:off x="3941064" y="3909059"/>
            <a:ext cx="950976" cy="237744"/>
          </a:xfrm>
          <a:prstGeom prst="rect">
            <a:avLst/>
          </a:prstGeom>
          <a:noFill/>
        </p:spPr>
        <p:txBody>
          <a:bodyPr wrap="square" lIns="0" rIns="0" tIns="0" bIns="0" anchor="ctr">
            <a:spAutoFit/>
          </a:bodyPr>
          <a:lstStyle/>
          <a:p>
            <a:pPr algn="r"/>
            <a:r>
              <a:rPr sz="850" b="0" i="0">
                <a:solidFill>
                  <a:srgbClr val="6B7785"/>
                </a:solidFill>
                <a:latin typeface="Calibri"/>
              </a:rPr>
              <a:t>string(0)</a:t>
            </a:r>
          </a:p>
        </p:txBody>
      </p:sp>
      <p:sp>
        <p:nvSpPr>
          <p:cNvPr id="83" name="Group_Band"/>
          <p:cNvSpPr/>
          <p:nvPr/>
        </p:nvSpPr>
        <p:spPr>
          <a:xfrm>
            <a:off x="5010912" y="1463040"/>
            <a:ext cx="2176272" cy="310896"/>
          </a:xfrm>
          <a:prstGeom prst="rect">
            <a:avLst/>
          </a:prstGeom>
          <a:solidFill>
            <a:srgbClr val="B7701B"/>
          </a:solidFill>
          <a:ln w="6350">
            <a:solidFill>
              <a:srgbClr val="B7701B"/>
            </a:solidFill>
          </a:ln>
          <a:effectLst/>
        </p:spPr>
        <p:txBody>
          <a:bodyPr rtlCol="0" anchor="ctr"/>
          <a:lstStyle/>
          <a:p>
            <a:pPr algn="ctr"/>
          </a:p>
        </p:txBody>
      </p:sp>
      <p:sp>
        <p:nvSpPr>
          <p:cNvPr id="84" name="Group_Name"/>
          <p:cNvSpPr txBox="1"/>
          <p:nvPr/>
        </p:nvSpPr>
        <p:spPr>
          <a:xfrm>
            <a:off x="5056632" y="1472184"/>
            <a:ext cx="1408176" cy="292608"/>
          </a:xfrm>
          <a:prstGeom prst="rect">
            <a:avLst/>
          </a:prstGeom>
          <a:noFill/>
        </p:spPr>
        <p:txBody>
          <a:bodyPr wrap="square" lIns="0" rIns="0" tIns="0" bIns="0" anchor="ctr">
            <a:spAutoFit/>
          </a:bodyPr>
          <a:lstStyle/>
          <a:p>
            <a:r>
              <a:rPr sz="1100" b="1" i="0">
                <a:solidFill>
                  <a:srgbClr val="FFFFFF"/>
                </a:solidFill>
                <a:latin typeface="Calibri"/>
              </a:rPr>
              <a:t>Numeric text</a:t>
            </a:r>
          </a:p>
        </p:txBody>
      </p:sp>
      <p:sp>
        <p:nvSpPr>
          <p:cNvPr id="85" name="Group_Count"/>
          <p:cNvSpPr txBox="1"/>
          <p:nvPr/>
        </p:nvSpPr>
        <p:spPr>
          <a:xfrm>
            <a:off x="6437376" y="1472184"/>
            <a:ext cx="685800" cy="292608"/>
          </a:xfrm>
          <a:prstGeom prst="rect">
            <a:avLst/>
          </a:prstGeom>
          <a:noFill/>
        </p:spPr>
        <p:txBody>
          <a:bodyPr wrap="square" lIns="0" rIns="0" tIns="0" bIns="0" anchor="ctr">
            <a:spAutoFit/>
          </a:bodyPr>
          <a:lstStyle/>
          <a:p>
            <a:pPr algn="r"/>
            <a:r>
              <a:rPr sz="900" b="0" i="0">
                <a:solidFill>
                  <a:srgbClr val="FFFFFF"/>
                </a:solidFill>
                <a:latin typeface="Calibri"/>
              </a:rPr>
              <a:t>5 cols</a:t>
            </a:r>
          </a:p>
        </p:txBody>
      </p:sp>
      <p:sp>
        <p:nvSpPr>
          <p:cNvPr id="86" name="Row"/>
          <p:cNvSpPr/>
          <p:nvPr/>
        </p:nvSpPr>
        <p:spPr>
          <a:xfrm>
            <a:off x="5010912" y="1810512"/>
            <a:ext cx="2176272" cy="260603"/>
          </a:xfrm>
          <a:prstGeom prst="rect">
            <a:avLst/>
          </a:prstGeom>
          <a:solidFill>
            <a:srgbClr val="F8EBDC"/>
          </a:solidFill>
          <a:ln w="3175">
            <a:solidFill>
              <a:srgbClr val="F8EBDC"/>
            </a:solidFill>
          </a:ln>
          <a:effectLst/>
        </p:spPr>
        <p:txBody>
          <a:bodyPr rtlCol="0" anchor="ctr"/>
          <a:lstStyle/>
          <a:p>
            <a:pPr algn="ctr"/>
          </a:p>
        </p:txBody>
      </p:sp>
      <p:sp>
        <p:nvSpPr>
          <p:cNvPr id="87" name="Attr_Name"/>
          <p:cNvSpPr txBox="1"/>
          <p:nvPr/>
        </p:nvSpPr>
        <p:spPr>
          <a:xfrm>
            <a:off x="5367528" y="1824228"/>
            <a:ext cx="1051560" cy="237744"/>
          </a:xfrm>
          <a:prstGeom prst="rect">
            <a:avLst/>
          </a:prstGeom>
          <a:noFill/>
        </p:spPr>
        <p:txBody>
          <a:bodyPr wrap="square" lIns="0" rIns="0" tIns="0" bIns="0" anchor="ctr">
            <a:spAutoFit/>
          </a:bodyPr>
          <a:lstStyle/>
          <a:p>
            <a:r>
              <a:rPr sz="1000" b="1" i="0">
                <a:solidFill>
                  <a:srgbClr val="1F2D3D"/>
                </a:solidFill>
                <a:latin typeface="Calibri"/>
              </a:rPr>
              <a:t>t_numc4</a:t>
            </a:r>
          </a:p>
        </p:txBody>
      </p:sp>
      <p:sp>
        <p:nvSpPr>
          <p:cNvPr id="88" name="Attr_Type"/>
          <p:cNvSpPr txBox="1"/>
          <p:nvPr/>
        </p:nvSpPr>
        <p:spPr>
          <a:xfrm>
            <a:off x="6172200" y="1824228"/>
            <a:ext cx="950976" cy="237744"/>
          </a:xfrm>
          <a:prstGeom prst="rect">
            <a:avLst/>
          </a:prstGeom>
          <a:noFill/>
        </p:spPr>
        <p:txBody>
          <a:bodyPr wrap="square" lIns="0" rIns="0" tIns="0" bIns="0" anchor="ctr">
            <a:spAutoFit/>
          </a:bodyPr>
          <a:lstStyle/>
          <a:p>
            <a:pPr algn="r"/>
            <a:r>
              <a:rPr sz="850" b="0" i="0">
                <a:solidFill>
                  <a:srgbClr val="6B7785"/>
                </a:solidFill>
                <a:latin typeface="Calibri"/>
              </a:rPr>
              <a:t>numc(4)</a:t>
            </a:r>
          </a:p>
        </p:txBody>
      </p:sp>
      <p:sp>
        <p:nvSpPr>
          <p:cNvPr id="89" name="Row"/>
          <p:cNvSpPr/>
          <p:nvPr/>
        </p:nvSpPr>
        <p:spPr>
          <a:xfrm>
            <a:off x="5010912" y="2071116"/>
            <a:ext cx="2176272" cy="260603"/>
          </a:xfrm>
          <a:prstGeom prst="rect">
            <a:avLst/>
          </a:prstGeom>
          <a:solidFill>
            <a:srgbClr val="FFFFFF"/>
          </a:solidFill>
          <a:ln w="3175">
            <a:solidFill>
              <a:srgbClr val="FFFFFF"/>
            </a:solidFill>
          </a:ln>
          <a:effectLst/>
        </p:spPr>
        <p:txBody>
          <a:bodyPr rtlCol="0" anchor="ctr"/>
          <a:lstStyle/>
          <a:p>
            <a:pPr algn="ctr"/>
          </a:p>
        </p:txBody>
      </p:sp>
      <p:sp>
        <p:nvSpPr>
          <p:cNvPr id="90" name="Pair_Marker"/>
          <p:cNvSpPr/>
          <p:nvPr/>
        </p:nvSpPr>
        <p:spPr>
          <a:xfrm>
            <a:off x="5111496" y="2139696"/>
            <a:ext cx="118872" cy="118872"/>
          </a:xfrm>
          <a:prstGeom prst="ellipse">
            <a:avLst/>
          </a:prstGeom>
          <a:solidFill>
            <a:srgbClr val="16A085"/>
          </a:solidFill>
          <a:ln w="6350">
            <a:solidFill>
              <a:srgbClr val="16A085"/>
            </a:solidFill>
          </a:ln>
          <a:effectLst/>
        </p:spPr>
        <p:txBody>
          <a:bodyPr rtlCol="0" anchor="ctr"/>
          <a:lstStyle/>
          <a:p>
            <a:pPr algn="ctr"/>
          </a:p>
        </p:txBody>
      </p:sp>
      <p:sp>
        <p:nvSpPr>
          <p:cNvPr id="91" name="Attr_Name"/>
          <p:cNvSpPr txBox="1"/>
          <p:nvPr/>
        </p:nvSpPr>
        <p:spPr>
          <a:xfrm>
            <a:off x="5367528" y="2084832"/>
            <a:ext cx="1051560" cy="237744"/>
          </a:xfrm>
          <a:prstGeom prst="rect">
            <a:avLst/>
          </a:prstGeom>
          <a:noFill/>
        </p:spPr>
        <p:txBody>
          <a:bodyPr wrap="square" lIns="0" rIns="0" tIns="0" bIns="0" anchor="ctr">
            <a:spAutoFit/>
          </a:bodyPr>
          <a:lstStyle/>
          <a:p>
            <a:r>
              <a:rPr sz="1000" b="1" i="0">
                <a:solidFill>
                  <a:srgbClr val="1F2D3D"/>
                </a:solidFill>
                <a:latin typeface="Calibri"/>
              </a:rPr>
              <a:t>t_numc6</a:t>
            </a:r>
          </a:p>
        </p:txBody>
      </p:sp>
      <p:sp>
        <p:nvSpPr>
          <p:cNvPr id="92" name="Attr_Type"/>
          <p:cNvSpPr txBox="1"/>
          <p:nvPr/>
        </p:nvSpPr>
        <p:spPr>
          <a:xfrm>
            <a:off x="6172200" y="2084832"/>
            <a:ext cx="950976" cy="237744"/>
          </a:xfrm>
          <a:prstGeom prst="rect">
            <a:avLst/>
          </a:prstGeom>
          <a:noFill/>
        </p:spPr>
        <p:txBody>
          <a:bodyPr wrap="square" lIns="0" rIns="0" tIns="0" bIns="0" anchor="ctr">
            <a:spAutoFit/>
          </a:bodyPr>
          <a:lstStyle/>
          <a:p>
            <a:pPr algn="r"/>
            <a:r>
              <a:rPr sz="850" b="0" i="0">
                <a:solidFill>
                  <a:srgbClr val="6B7785"/>
                </a:solidFill>
                <a:latin typeface="Calibri"/>
              </a:rPr>
              <a:t>numc(6)</a:t>
            </a:r>
          </a:p>
        </p:txBody>
      </p:sp>
      <p:sp>
        <p:nvSpPr>
          <p:cNvPr id="93" name="Row"/>
          <p:cNvSpPr/>
          <p:nvPr/>
        </p:nvSpPr>
        <p:spPr>
          <a:xfrm>
            <a:off x="5010912" y="2331720"/>
            <a:ext cx="2176272" cy="260603"/>
          </a:xfrm>
          <a:prstGeom prst="rect">
            <a:avLst/>
          </a:prstGeom>
          <a:solidFill>
            <a:srgbClr val="F8EBDC"/>
          </a:solidFill>
          <a:ln w="3175">
            <a:solidFill>
              <a:srgbClr val="F8EBDC"/>
            </a:solidFill>
          </a:ln>
          <a:effectLst/>
        </p:spPr>
        <p:txBody>
          <a:bodyPr rtlCol="0" anchor="ctr"/>
          <a:lstStyle/>
          <a:p>
            <a:pPr algn="ctr"/>
          </a:p>
        </p:txBody>
      </p:sp>
      <p:sp>
        <p:nvSpPr>
          <p:cNvPr id="94" name="Pair_Marker"/>
          <p:cNvSpPr/>
          <p:nvPr/>
        </p:nvSpPr>
        <p:spPr>
          <a:xfrm>
            <a:off x="5111496" y="2400300"/>
            <a:ext cx="118872" cy="118872"/>
          </a:xfrm>
          <a:prstGeom prst="ellipse">
            <a:avLst/>
          </a:prstGeom>
          <a:solidFill>
            <a:srgbClr val="E67E22"/>
          </a:solidFill>
          <a:ln w="6350">
            <a:solidFill>
              <a:srgbClr val="E67E22"/>
            </a:solidFill>
          </a:ln>
          <a:effectLst/>
        </p:spPr>
        <p:txBody>
          <a:bodyPr rtlCol="0" anchor="ctr"/>
          <a:lstStyle/>
          <a:p>
            <a:pPr algn="ctr"/>
          </a:p>
        </p:txBody>
      </p:sp>
      <p:sp>
        <p:nvSpPr>
          <p:cNvPr id="95" name="Attr_Name"/>
          <p:cNvSpPr txBox="1"/>
          <p:nvPr/>
        </p:nvSpPr>
        <p:spPr>
          <a:xfrm>
            <a:off x="5367528" y="2345436"/>
            <a:ext cx="1051560" cy="237744"/>
          </a:xfrm>
          <a:prstGeom prst="rect">
            <a:avLst/>
          </a:prstGeom>
          <a:noFill/>
        </p:spPr>
        <p:txBody>
          <a:bodyPr wrap="square" lIns="0" rIns="0" tIns="0" bIns="0" anchor="ctr">
            <a:spAutoFit/>
          </a:bodyPr>
          <a:lstStyle/>
          <a:p>
            <a:r>
              <a:rPr sz="1000" b="1" i="0">
                <a:solidFill>
                  <a:srgbClr val="1F2D3D"/>
                </a:solidFill>
                <a:latin typeface="Calibri"/>
              </a:rPr>
              <a:t>t_numc8</a:t>
            </a:r>
          </a:p>
        </p:txBody>
      </p:sp>
      <p:sp>
        <p:nvSpPr>
          <p:cNvPr id="96" name="Attr_Type"/>
          <p:cNvSpPr txBox="1"/>
          <p:nvPr/>
        </p:nvSpPr>
        <p:spPr>
          <a:xfrm>
            <a:off x="6172200" y="2345436"/>
            <a:ext cx="950976" cy="237744"/>
          </a:xfrm>
          <a:prstGeom prst="rect">
            <a:avLst/>
          </a:prstGeom>
          <a:noFill/>
        </p:spPr>
        <p:txBody>
          <a:bodyPr wrap="square" lIns="0" rIns="0" tIns="0" bIns="0" anchor="ctr">
            <a:spAutoFit/>
          </a:bodyPr>
          <a:lstStyle/>
          <a:p>
            <a:pPr algn="r"/>
            <a:r>
              <a:rPr sz="850" b="0" i="0">
                <a:solidFill>
                  <a:srgbClr val="6B7785"/>
                </a:solidFill>
                <a:latin typeface="Calibri"/>
              </a:rPr>
              <a:t>numc(8)</a:t>
            </a:r>
          </a:p>
        </p:txBody>
      </p:sp>
      <p:sp>
        <p:nvSpPr>
          <p:cNvPr id="97" name="Row"/>
          <p:cNvSpPr/>
          <p:nvPr/>
        </p:nvSpPr>
        <p:spPr>
          <a:xfrm>
            <a:off x="5010912" y="2592324"/>
            <a:ext cx="2176272" cy="260603"/>
          </a:xfrm>
          <a:prstGeom prst="rect">
            <a:avLst/>
          </a:prstGeom>
          <a:solidFill>
            <a:srgbClr val="FFFFFF"/>
          </a:solidFill>
          <a:ln w="3175">
            <a:solidFill>
              <a:srgbClr val="FFFFFF"/>
            </a:solidFill>
          </a:ln>
          <a:effectLst/>
        </p:spPr>
        <p:txBody>
          <a:bodyPr rtlCol="0" anchor="ctr"/>
          <a:lstStyle/>
          <a:p>
            <a:pPr algn="ctr"/>
          </a:p>
        </p:txBody>
      </p:sp>
      <p:sp>
        <p:nvSpPr>
          <p:cNvPr id="98" name="Pair_Marker"/>
          <p:cNvSpPr/>
          <p:nvPr/>
        </p:nvSpPr>
        <p:spPr>
          <a:xfrm>
            <a:off x="5111496" y="2660904"/>
            <a:ext cx="118872" cy="118872"/>
          </a:xfrm>
          <a:prstGeom prst="ellipse">
            <a:avLst/>
          </a:prstGeom>
          <a:solidFill>
            <a:srgbClr val="8E44AD"/>
          </a:solidFill>
          <a:ln w="6350">
            <a:solidFill>
              <a:srgbClr val="8E44AD"/>
            </a:solidFill>
          </a:ln>
          <a:effectLst/>
        </p:spPr>
        <p:txBody>
          <a:bodyPr rtlCol="0" anchor="ctr"/>
          <a:lstStyle/>
          <a:p>
            <a:pPr algn="ctr"/>
          </a:p>
        </p:txBody>
      </p:sp>
      <p:sp>
        <p:nvSpPr>
          <p:cNvPr id="99" name="Attr_Name"/>
          <p:cNvSpPr txBox="1"/>
          <p:nvPr/>
        </p:nvSpPr>
        <p:spPr>
          <a:xfrm>
            <a:off x="5367528" y="2606040"/>
            <a:ext cx="1051560" cy="237744"/>
          </a:xfrm>
          <a:prstGeom prst="rect">
            <a:avLst/>
          </a:prstGeom>
          <a:noFill/>
        </p:spPr>
        <p:txBody>
          <a:bodyPr wrap="square" lIns="0" rIns="0" tIns="0" bIns="0" anchor="ctr">
            <a:spAutoFit/>
          </a:bodyPr>
          <a:lstStyle/>
          <a:p>
            <a:r>
              <a:rPr sz="1000" b="1" i="0">
                <a:solidFill>
                  <a:srgbClr val="1F2D3D"/>
                </a:solidFill>
                <a:latin typeface="Calibri"/>
              </a:rPr>
              <a:t>t_numc10</a:t>
            </a:r>
          </a:p>
        </p:txBody>
      </p:sp>
      <p:sp>
        <p:nvSpPr>
          <p:cNvPr id="100" name="Attr_Type"/>
          <p:cNvSpPr txBox="1"/>
          <p:nvPr/>
        </p:nvSpPr>
        <p:spPr>
          <a:xfrm>
            <a:off x="6172200" y="2606040"/>
            <a:ext cx="950976" cy="237744"/>
          </a:xfrm>
          <a:prstGeom prst="rect">
            <a:avLst/>
          </a:prstGeom>
          <a:noFill/>
        </p:spPr>
        <p:txBody>
          <a:bodyPr wrap="square" lIns="0" rIns="0" tIns="0" bIns="0" anchor="ctr">
            <a:spAutoFit/>
          </a:bodyPr>
          <a:lstStyle/>
          <a:p>
            <a:pPr algn="r"/>
            <a:r>
              <a:rPr sz="850" b="0" i="0">
                <a:solidFill>
                  <a:srgbClr val="6B7785"/>
                </a:solidFill>
                <a:latin typeface="Calibri"/>
              </a:rPr>
              <a:t>numc(10)</a:t>
            </a:r>
          </a:p>
        </p:txBody>
      </p:sp>
      <p:sp>
        <p:nvSpPr>
          <p:cNvPr id="101" name="Row"/>
          <p:cNvSpPr/>
          <p:nvPr/>
        </p:nvSpPr>
        <p:spPr>
          <a:xfrm>
            <a:off x="5010912" y="2852928"/>
            <a:ext cx="2176272" cy="260603"/>
          </a:xfrm>
          <a:prstGeom prst="rect">
            <a:avLst/>
          </a:prstGeom>
          <a:solidFill>
            <a:srgbClr val="F8EBDC"/>
          </a:solidFill>
          <a:ln w="3175">
            <a:solidFill>
              <a:srgbClr val="F8EBDC"/>
            </a:solidFill>
          </a:ln>
          <a:effectLst/>
        </p:spPr>
        <p:txBody>
          <a:bodyPr rtlCol="0" anchor="ctr"/>
          <a:lstStyle/>
          <a:p>
            <a:pPr algn="ctr"/>
          </a:p>
        </p:txBody>
      </p:sp>
      <p:sp>
        <p:nvSpPr>
          <p:cNvPr id="102" name="Attr_Name"/>
          <p:cNvSpPr txBox="1"/>
          <p:nvPr/>
        </p:nvSpPr>
        <p:spPr>
          <a:xfrm>
            <a:off x="5367528" y="2866644"/>
            <a:ext cx="1051560" cy="237744"/>
          </a:xfrm>
          <a:prstGeom prst="rect">
            <a:avLst/>
          </a:prstGeom>
          <a:noFill/>
        </p:spPr>
        <p:txBody>
          <a:bodyPr wrap="square" lIns="0" rIns="0" tIns="0" bIns="0" anchor="ctr">
            <a:spAutoFit/>
          </a:bodyPr>
          <a:lstStyle/>
          <a:p>
            <a:r>
              <a:rPr sz="1000" b="1" i="0">
                <a:solidFill>
                  <a:srgbClr val="1F2D3D"/>
                </a:solidFill>
                <a:latin typeface="Calibri"/>
              </a:rPr>
              <a:t>t_numc14</a:t>
            </a:r>
          </a:p>
        </p:txBody>
      </p:sp>
      <p:sp>
        <p:nvSpPr>
          <p:cNvPr id="103" name="Attr_Type"/>
          <p:cNvSpPr txBox="1"/>
          <p:nvPr/>
        </p:nvSpPr>
        <p:spPr>
          <a:xfrm>
            <a:off x="6172200" y="2866644"/>
            <a:ext cx="950976" cy="237744"/>
          </a:xfrm>
          <a:prstGeom prst="rect">
            <a:avLst/>
          </a:prstGeom>
          <a:noFill/>
        </p:spPr>
        <p:txBody>
          <a:bodyPr wrap="square" lIns="0" rIns="0" tIns="0" bIns="0" anchor="ctr">
            <a:spAutoFit/>
          </a:bodyPr>
          <a:lstStyle/>
          <a:p>
            <a:pPr algn="r"/>
            <a:r>
              <a:rPr sz="850" b="0" i="0">
                <a:solidFill>
                  <a:srgbClr val="6B7785"/>
                </a:solidFill>
                <a:latin typeface="Calibri"/>
              </a:rPr>
              <a:t>numc(14)</a:t>
            </a:r>
          </a:p>
        </p:txBody>
      </p:sp>
      <p:sp>
        <p:nvSpPr>
          <p:cNvPr id="104" name="Group_Band"/>
          <p:cNvSpPr/>
          <p:nvPr/>
        </p:nvSpPr>
        <p:spPr>
          <a:xfrm>
            <a:off x="7242048" y="1463040"/>
            <a:ext cx="2176272" cy="310896"/>
          </a:xfrm>
          <a:prstGeom prst="rect">
            <a:avLst/>
          </a:prstGeom>
          <a:solidFill>
            <a:srgbClr val="7030A0"/>
          </a:solidFill>
          <a:ln w="6350">
            <a:solidFill>
              <a:srgbClr val="7030A0"/>
            </a:solidFill>
          </a:ln>
          <a:effectLst/>
        </p:spPr>
        <p:txBody>
          <a:bodyPr rtlCol="0" anchor="ctr"/>
          <a:lstStyle/>
          <a:p>
            <a:pPr algn="ctr"/>
          </a:p>
        </p:txBody>
      </p:sp>
      <p:sp>
        <p:nvSpPr>
          <p:cNvPr id="105" name="Group_Name"/>
          <p:cNvSpPr txBox="1"/>
          <p:nvPr/>
        </p:nvSpPr>
        <p:spPr>
          <a:xfrm>
            <a:off x="7287768" y="1472184"/>
            <a:ext cx="1408176" cy="292608"/>
          </a:xfrm>
          <a:prstGeom prst="rect">
            <a:avLst/>
          </a:prstGeom>
          <a:noFill/>
        </p:spPr>
        <p:txBody>
          <a:bodyPr wrap="square" lIns="0" rIns="0" tIns="0" bIns="0" anchor="ctr">
            <a:spAutoFit/>
          </a:bodyPr>
          <a:lstStyle/>
          <a:p>
            <a:r>
              <a:rPr sz="1100" b="1" i="0">
                <a:solidFill>
                  <a:srgbClr val="FFFFFF"/>
                </a:solidFill>
                <a:latin typeface="Calibri"/>
              </a:rPr>
              <a:t>Date and time</a:t>
            </a:r>
          </a:p>
        </p:txBody>
      </p:sp>
      <p:sp>
        <p:nvSpPr>
          <p:cNvPr id="106" name="Group_Count"/>
          <p:cNvSpPr txBox="1"/>
          <p:nvPr/>
        </p:nvSpPr>
        <p:spPr>
          <a:xfrm>
            <a:off x="8668512" y="1472184"/>
            <a:ext cx="685800" cy="292608"/>
          </a:xfrm>
          <a:prstGeom prst="rect">
            <a:avLst/>
          </a:prstGeom>
          <a:noFill/>
        </p:spPr>
        <p:txBody>
          <a:bodyPr wrap="square" lIns="0" rIns="0" tIns="0" bIns="0" anchor="ctr">
            <a:spAutoFit/>
          </a:bodyPr>
          <a:lstStyle/>
          <a:p>
            <a:pPr algn="r"/>
            <a:r>
              <a:rPr sz="900" b="0" i="0">
                <a:solidFill>
                  <a:srgbClr val="FFFFFF"/>
                </a:solidFill>
                <a:latin typeface="Calibri"/>
              </a:rPr>
              <a:t>9 cols</a:t>
            </a:r>
          </a:p>
        </p:txBody>
      </p:sp>
      <p:sp>
        <p:nvSpPr>
          <p:cNvPr id="107" name="Row"/>
          <p:cNvSpPr/>
          <p:nvPr/>
        </p:nvSpPr>
        <p:spPr>
          <a:xfrm>
            <a:off x="7242048" y="1810512"/>
            <a:ext cx="2176272" cy="260603"/>
          </a:xfrm>
          <a:prstGeom prst="rect">
            <a:avLst/>
          </a:prstGeom>
          <a:solidFill>
            <a:srgbClr val="ECE3F5"/>
          </a:solidFill>
          <a:ln w="3175">
            <a:solidFill>
              <a:srgbClr val="ECE3F5"/>
            </a:solidFill>
          </a:ln>
          <a:effectLst/>
        </p:spPr>
        <p:txBody>
          <a:bodyPr rtlCol="0" anchor="ctr"/>
          <a:lstStyle/>
          <a:p>
            <a:pPr algn="ctr"/>
          </a:p>
        </p:txBody>
      </p:sp>
      <p:sp>
        <p:nvSpPr>
          <p:cNvPr id="108" name="Pair_Marker"/>
          <p:cNvSpPr/>
          <p:nvPr/>
        </p:nvSpPr>
        <p:spPr>
          <a:xfrm>
            <a:off x="7342632" y="1879092"/>
            <a:ext cx="118872" cy="118872"/>
          </a:xfrm>
          <a:prstGeom prst="ellipse">
            <a:avLst/>
          </a:prstGeom>
          <a:solidFill>
            <a:srgbClr val="C0392B"/>
          </a:solidFill>
          <a:ln w="6350">
            <a:solidFill>
              <a:srgbClr val="C0392B"/>
            </a:solidFill>
          </a:ln>
          <a:effectLst/>
        </p:spPr>
        <p:txBody>
          <a:bodyPr rtlCol="0" anchor="ctr"/>
          <a:lstStyle/>
          <a:p>
            <a:pPr algn="ctr"/>
          </a:p>
        </p:txBody>
      </p:sp>
      <p:sp>
        <p:nvSpPr>
          <p:cNvPr id="109" name="Attr_Name"/>
          <p:cNvSpPr txBox="1"/>
          <p:nvPr/>
        </p:nvSpPr>
        <p:spPr>
          <a:xfrm>
            <a:off x="7598664" y="1824228"/>
            <a:ext cx="1051560" cy="237744"/>
          </a:xfrm>
          <a:prstGeom prst="rect">
            <a:avLst/>
          </a:prstGeom>
          <a:noFill/>
        </p:spPr>
        <p:txBody>
          <a:bodyPr wrap="square" lIns="0" rIns="0" tIns="0" bIns="0" anchor="ctr">
            <a:spAutoFit/>
          </a:bodyPr>
          <a:lstStyle/>
          <a:p>
            <a:r>
              <a:rPr sz="1000" b="1" i="0">
                <a:solidFill>
                  <a:srgbClr val="1F2D3D"/>
                </a:solidFill>
                <a:latin typeface="Calibri"/>
              </a:rPr>
              <a:t>t_dats</a:t>
            </a:r>
          </a:p>
        </p:txBody>
      </p:sp>
      <p:sp>
        <p:nvSpPr>
          <p:cNvPr id="110" name="Attr_Type"/>
          <p:cNvSpPr txBox="1"/>
          <p:nvPr/>
        </p:nvSpPr>
        <p:spPr>
          <a:xfrm>
            <a:off x="8403336" y="1824228"/>
            <a:ext cx="950976" cy="237744"/>
          </a:xfrm>
          <a:prstGeom prst="rect">
            <a:avLst/>
          </a:prstGeom>
          <a:noFill/>
        </p:spPr>
        <p:txBody>
          <a:bodyPr wrap="square" lIns="0" rIns="0" tIns="0" bIns="0" anchor="ctr">
            <a:spAutoFit/>
          </a:bodyPr>
          <a:lstStyle/>
          <a:p>
            <a:pPr algn="r"/>
            <a:r>
              <a:rPr sz="850" b="0" i="0">
                <a:solidFill>
                  <a:srgbClr val="6B7785"/>
                </a:solidFill>
                <a:latin typeface="Calibri"/>
              </a:rPr>
              <a:t>abap.dats</a:t>
            </a:r>
          </a:p>
        </p:txBody>
      </p:sp>
      <p:sp>
        <p:nvSpPr>
          <p:cNvPr id="111" name="Row"/>
          <p:cNvSpPr/>
          <p:nvPr/>
        </p:nvSpPr>
        <p:spPr>
          <a:xfrm>
            <a:off x="7242048" y="2071116"/>
            <a:ext cx="2176272" cy="260603"/>
          </a:xfrm>
          <a:prstGeom prst="rect">
            <a:avLst/>
          </a:prstGeom>
          <a:solidFill>
            <a:srgbClr val="FFFFFF"/>
          </a:solidFill>
          <a:ln w="3175">
            <a:solidFill>
              <a:srgbClr val="FFFFFF"/>
            </a:solidFill>
          </a:ln>
          <a:effectLst/>
        </p:spPr>
        <p:txBody>
          <a:bodyPr rtlCol="0" anchor="ctr"/>
          <a:lstStyle/>
          <a:p>
            <a:pPr algn="ctr"/>
          </a:p>
        </p:txBody>
      </p:sp>
      <p:sp>
        <p:nvSpPr>
          <p:cNvPr id="112" name="Pair_Marker"/>
          <p:cNvSpPr/>
          <p:nvPr/>
        </p:nvSpPr>
        <p:spPr>
          <a:xfrm>
            <a:off x="7342632" y="2139696"/>
            <a:ext cx="118872" cy="118872"/>
          </a:xfrm>
          <a:prstGeom prst="ellipse">
            <a:avLst/>
          </a:prstGeom>
          <a:solidFill>
            <a:srgbClr val="C0392B"/>
          </a:solidFill>
          <a:ln w="6350">
            <a:solidFill>
              <a:srgbClr val="C0392B"/>
            </a:solidFill>
          </a:ln>
          <a:effectLst/>
        </p:spPr>
        <p:txBody>
          <a:bodyPr rtlCol="0" anchor="ctr"/>
          <a:lstStyle/>
          <a:p>
            <a:pPr algn="ctr"/>
          </a:p>
        </p:txBody>
      </p:sp>
      <p:sp>
        <p:nvSpPr>
          <p:cNvPr id="113" name="Attr_Name"/>
          <p:cNvSpPr txBox="1"/>
          <p:nvPr/>
        </p:nvSpPr>
        <p:spPr>
          <a:xfrm>
            <a:off x="7598664" y="2084832"/>
            <a:ext cx="1051560" cy="237744"/>
          </a:xfrm>
          <a:prstGeom prst="rect">
            <a:avLst/>
          </a:prstGeom>
          <a:noFill/>
        </p:spPr>
        <p:txBody>
          <a:bodyPr wrap="square" lIns="0" rIns="0" tIns="0" bIns="0" anchor="ctr">
            <a:spAutoFit/>
          </a:bodyPr>
          <a:lstStyle/>
          <a:p>
            <a:r>
              <a:rPr sz="1000" b="1" i="0">
                <a:solidFill>
                  <a:srgbClr val="1F2D3D"/>
                </a:solidFill>
                <a:latin typeface="Calibri"/>
              </a:rPr>
              <a:t>t_datn</a:t>
            </a:r>
          </a:p>
        </p:txBody>
      </p:sp>
      <p:sp>
        <p:nvSpPr>
          <p:cNvPr id="114" name="Attr_Type"/>
          <p:cNvSpPr txBox="1"/>
          <p:nvPr/>
        </p:nvSpPr>
        <p:spPr>
          <a:xfrm>
            <a:off x="8403336" y="2084832"/>
            <a:ext cx="950976" cy="237744"/>
          </a:xfrm>
          <a:prstGeom prst="rect">
            <a:avLst/>
          </a:prstGeom>
          <a:noFill/>
        </p:spPr>
        <p:txBody>
          <a:bodyPr wrap="square" lIns="0" rIns="0" tIns="0" bIns="0" anchor="ctr">
            <a:spAutoFit/>
          </a:bodyPr>
          <a:lstStyle/>
          <a:p>
            <a:pPr algn="r"/>
            <a:r>
              <a:rPr sz="850" b="0" i="0">
                <a:solidFill>
                  <a:srgbClr val="6B7785"/>
                </a:solidFill>
                <a:latin typeface="Calibri"/>
              </a:rPr>
              <a:t>abap.datn</a:t>
            </a:r>
          </a:p>
        </p:txBody>
      </p:sp>
      <p:sp>
        <p:nvSpPr>
          <p:cNvPr id="115" name="Row"/>
          <p:cNvSpPr/>
          <p:nvPr/>
        </p:nvSpPr>
        <p:spPr>
          <a:xfrm>
            <a:off x="7242048" y="2331720"/>
            <a:ext cx="2176272" cy="260603"/>
          </a:xfrm>
          <a:prstGeom prst="rect">
            <a:avLst/>
          </a:prstGeom>
          <a:solidFill>
            <a:srgbClr val="ECE3F5"/>
          </a:solidFill>
          <a:ln w="3175">
            <a:solidFill>
              <a:srgbClr val="ECE3F5"/>
            </a:solidFill>
          </a:ln>
          <a:effectLst/>
        </p:spPr>
        <p:txBody>
          <a:bodyPr rtlCol="0" anchor="ctr"/>
          <a:lstStyle/>
          <a:p>
            <a:pPr algn="ctr"/>
          </a:p>
        </p:txBody>
      </p:sp>
      <p:sp>
        <p:nvSpPr>
          <p:cNvPr id="116" name="Pair_Marker"/>
          <p:cNvSpPr/>
          <p:nvPr/>
        </p:nvSpPr>
        <p:spPr>
          <a:xfrm>
            <a:off x="7342632" y="2400300"/>
            <a:ext cx="118872" cy="118872"/>
          </a:xfrm>
          <a:prstGeom prst="ellipse">
            <a:avLst/>
          </a:prstGeom>
          <a:solidFill>
            <a:srgbClr val="7F8C8D"/>
          </a:solidFill>
          <a:ln w="6350">
            <a:solidFill>
              <a:srgbClr val="7F8C8D"/>
            </a:solidFill>
          </a:ln>
          <a:effectLst/>
        </p:spPr>
        <p:txBody>
          <a:bodyPr rtlCol="0" anchor="ctr"/>
          <a:lstStyle/>
          <a:p>
            <a:pPr algn="ctr"/>
          </a:p>
        </p:txBody>
      </p:sp>
      <p:sp>
        <p:nvSpPr>
          <p:cNvPr id="117" name="Attr_Name"/>
          <p:cNvSpPr txBox="1"/>
          <p:nvPr/>
        </p:nvSpPr>
        <p:spPr>
          <a:xfrm>
            <a:off x="7598664" y="2345436"/>
            <a:ext cx="1051560" cy="237744"/>
          </a:xfrm>
          <a:prstGeom prst="rect">
            <a:avLst/>
          </a:prstGeom>
          <a:noFill/>
        </p:spPr>
        <p:txBody>
          <a:bodyPr wrap="square" lIns="0" rIns="0" tIns="0" bIns="0" anchor="ctr">
            <a:spAutoFit/>
          </a:bodyPr>
          <a:lstStyle/>
          <a:p>
            <a:r>
              <a:rPr sz="1000" b="1" i="0">
                <a:solidFill>
                  <a:srgbClr val="1F2D3D"/>
                </a:solidFill>
                <a:latin typeface="Calibri"/>
              </a:rPr>
              <a:t>t_tims</a:t>
            </a:r>
          </a:p>
        </p:txBody>
      </p:sp>
      <p:sp>
        <p:nvSpPr>
          <p:cNvPr id="118" name="Attr_Type"/>
          <p:cNvSpPr txBox="1"/>
          <p:nvPr/>
        </p:nvSpPr>
        <p:spPr>
          <a:xfrm>
            <a:off x="8403336" y="2345436"/>
            <a:ext cx="950976" cy="237744"/>
          </a:xfrm>
          <a:prstGeom prst="rect">
            <a:avLst/>
          </a:prstGeom>
          <a:noFill/>
        </p:spPr>
        <p:txBody>
          <a:bodyPr wrap="square" lIns="0" rIns="0" tIns="0" bIns="0" anchor="ctr">
            <a:spAutoFit/>
          </a:bodyPr>
          <a:lstStyle/>
          <a:p>
            <a:pPr algn="r"/>
            <a:r>
              <a:rPr sz="850" b="0" i="0">
                <a:solidFill>
                  <a:srgbClr val="6B7785"/>
                </a:solidFill>
                <a:latin typeface="Calibri"/>
              </a:rPr>
              <a:t>abap.tims</a:t>
            </a:r>
          </a:p>
        </p:txBody>
      </p:sp>
      <p:sp>
        <p:nvSpPr>
          <p:cNvPr id="119" name="Row"/>
          <p:cNvSpPr/>
          <p:nvPr/>
        </p:nvSpPr>
        <p:spPr>
          <a:xfrm>
            <a:off x="7242048" y="2592324"/>
            <a:ext cx="2176272" cy="260603"/>
          </a:xfrm>
          <a:prstGeom prst="rect">
            <a:avLst/>
          </a:prstGeom>
          <a:solidFill>
            <a:srgbClr val="FFFFFF"/>
          </a:solidFill>
          <a:ln w="3175">
            <a:solidFill>
              <a:srgbClr val="FFFFFF"/>
            </a:solidFill>
          </a:ln>
          <a:effectLst/>
        </p:spPr>
        <p:txBody>
          <a:bodyPr rtlCol="0" anchor="ctr"/>
          <a:lstStyle/>
          <a:p>
            <a:pPr algn="ctr"/>
          </a:p>
        </p:txBody>
      </p:sp>
      <p:sp>
        <p:nvSpPr>
          <p:cNvPr id="120" name="Pair_Marker"/>
          <p:cNvSpPr/>
          <p:nvPr/>
        </p:nvSpPr>
        <p:spPr>
          <a:xfrm>
            <a:off x="7342632" y="2660904"/>
            <a:ext cx="118872" cy="118872"/>
          </a:xfrm>
          <a:prstGeom prst="ellipse">
            <a:avLst/>
          </a:prstGeom>
          <a:solidFill>
            <a:srgbClr val="7F8C8D"/>
          </a:solidFill>
          <a:ln w="6350">
            <a:solidFill>
              <a:srgbClr val="7F8C8D"/>
            </a:solidFill>
          </a:ln>
          <a:effectLst/>
        </p:spPr>
        <p:txBody>
          <a:bodyPr rtlCol="0" anchor="ctr"/>
          <a:lstStyle/>
          <a:p>
            <a:pPr algn="ctr"/>
          </a:p>
        </p:txBody>
      </p:sp>
      <p:sp>
        <p:nvSpPr>
          <p:cNvPr id="121" name="Attr_Name"/>
          <p:cNvSpPr txBox="1"/>
          <p:nvPr/>
        </p:nvSpPr>
        <p:spPr>
          <a:xfrm>
            <a:off x="7598664" y="2606040"/>
            <a:ext cx="1051560" cy="237744"/>
          </a:xfrm>
          <a:prstGeom prst="rect">
            <a:avLst/>
          </a:prstGeom>
          <a:noFill/>
        </p:spPr>
        <p:txBody>
          <a:bodyPr wrap="square" lIns="0" rIns="0" tIns="0" bIns="0" anchor="ctr">
            <a:spAutoFit/>
          </a:bodyPr>
          <a:lstStyle/>
          <a:p>
            <a:r>
              <a:rPr sz="1000" b="1" i="0">
                <a:solidFill>
                  <a:srgbClr val="1F2D3D"/>
                </a:solidFill>
                <a:latin typeface="Calibri"/>
              </a:rPr>
              <a:t>t_timn</a:t>
            </a:r>
          </a:p>
        </p:txBody>
      </p:sp>
      <p:sp>
        <p:nvSpPr>
          <p:cNvPr id="122" name="Attr_Type"/>
          <p:cNvSpPr txBox="1"/>
          <p:nvPr/>
        </p:nvSpPr>
        <p:spPr>
          <a:xfrm>
            <a:off x="8403336" y="2606040"/>
            <a:ext cx="950976" cy="237744"/>
          </a:xfrm>
          <a:prstGeom prst="rect">
            <a:avLst/>
          </a:prstGeom>
          <a:noFill/>
        </p:spPr>
        <p:txBody>
          <a:bodyPr wrap="square" lIns="0" rIns="0" tIns="0" bIns="0" anchor="ctr">
            <a:spAutoFit/>
          </a:bodyPr>
          <a:lstStyle/>
          <a:p>
            <a:pPr algn="r"/>
            <a:r>
              <a:rPr sz="850" b="0" i="0">
                <a:solidFill>
                  <a:srgbClr val="6B7785"/>
                </a:solidFill>
                <a:latin typeface="Calibri"/>
              </a:rPr>
              <a:t>abap.timn</a:t>
            </a:r>
          </a:p>
        </p:txBody>
      </p:sp>
      <p:sp>
        <p:nvSpPr>
          <p:cNvPr id="123" name="Row"/>
          <p:cNvSpPr/>
          <p:nvPr/>
        </p:nvSpPr>
        <p:spPr>
          <a:xfrm>
            <a:off x="7242048" y="2852928"/>
            <a:ext cx="2176272" cy="260603"/>
          </a:xfrm>
          <a:prstGeom prst="rect">
            <a:avLst/>
          </a:prstGeom>
          <a:solidFill>
            <a:srgbClr val="ECE3F5"/>
          </a:solidFill>
          <a:ln w="3175">
            <a:solidFill>
              <a:srgbClr val="ECE3F5"/>
            </a:solidFill>
          </a:ln>
          <a:effectLst/>
        </p:spPr>
        <p:txBody>
          <a:bodyPr rtlCol="0" anchor="ctr"/>
          <a:lstStyle/>
          <a:p>
            <a:pPr algn="ctr"/>
          </a:p>
        </p:txBody>
      </p:sp>
      <p:sp>
        <p:nvSpPr>
          <p:cNvPr id="124" name="Attr_Name"/>
          <p:cNvSpPr txBox="1"/>
          <p:nvPr/>
        </p:nvSpPr>
        <p:spPr>
          <a:xfrm>
            <a:off x="7598664" y="2866644"/>
            <a:ext cx="1051560" cy="237744"/>
          </a:xfrm>
          <a:prstGeom prst="rect">
            <a:avLst/>
          </a:prstGeom>
          <a:noFill/>
        </p:spPr>
        <p:txBody>
          <a:bodyPr wrap="square" lIns="0" rIns="0" tIns="0" bIns="0" anchor="ctr">
            <a:spAutoFit/>
          </a:bodyPr>
          <a:lstStyle/>
          <a:p>
            <a:r>
              <a:rPr sz="1000" b="1" i="0">
                <a:solidFill>
                  <a:srgbClr val="1F2D3D"/>
                </a:solidFill>
                <a:latin typeface="Calibri"/>
              </a:rPr>
              <a:t>t_utc</a:t>
            </a:r>
          </a:p>
        </p:txBody>
      </p:sp>
      <p:sp>
        <p:nvSpPr>
          <p:cNvPr id="125" name="Attr_Type"/>
          <p:cNvSpPr txBox="1"/>
          <p:nvPr/>
        </p:nvSpPr>
        <p:spPr>
          <a:xfrm>
            <a:off x="8403336" y="2866644"/>
            <a:ext cx="950976" cy="237744"/>
          </a:xfrm>
          <a:prstGeom prst="rect">
            <a:avLst/>
          </a:prstGeom>
          <a:noFill/>
        </p:spPr>
        <p:txBody>
          <a:bodyPr wrap="square" lIns="0" rIns="0" tIns="0" bIns="0" anchor="ctr">
            <a:spAutoFit/>
          </a:bodyPr>
          <a:lstStyle/>
          <a:p>
            <a:pPr algn="r"/>
            <a:r>
              <a:rPr sz="850" b="0" i="0">
                <a:solidFill>
                  <a:srgbClr val="6B7785"/>
                </a:solidFill>
                <a:latin typeface="Calibri"/>
              </a:rPr>
              <a:t>abap.utclong</a:t>
            </a:r>
          </a:p>
        </p:txBody>
      </p:sp>
      <p:sp>
        <p:nvSpPr>
          <p:cNvPr id="126" name="Row"/>
          <p:cNvSpPr/>
          <p:nvPr/>
        </p:nvSpPr>
        <p:spPr>
          <a:xfrm>
            <a:off x="7242048" y="3113532"/>
            <a:ext cx="2176272" cy="260603"/>
          </a:xfrm>
          <a:prstGeom prst="rect">
            <a:avLst/>
          </a:prstGeom>
          <a:solidFill>
            <a:srgbClr val="FFFFFF"/>
          </a:solidFill>
          <a:ln w="3175">
            <a:solidFill>
              <a:srgbClr val="FFFFFF"/>
            </a:solidFill>
          </a:ln>
          <a:effectLst/>
        </p:spPr>
        <p:txBody>
          <a:bodyPr rtlCol="0" anchor="ctr"/>
          <a:lstStyle/>
          <a:p>
            <a:pPr algn="ctr"/>
          </a:p>
        </p:txBody>
      </p:sp>
      <p:sp>
        <p:nvSpPr>
          <p:cNvPr id="127" name="Attr_Name"/>
          <p:cNvSpPr txBox="1"/>
          <p:nvPr/>
        </p:nvSpPr>
        <p:spPr>
          <a:xfrm>
            <a:off x="7598664" y="3127248"/>
            <a:ext cx="1051560" cy="237744"/>
          </a:xfrm>
          <a:prstGeom prst="rect">
            <a:avLst/>
          </a:prstGeom>
          <a:noFill/>
        </p:spPr>
        <p:txBody>
          <a:bodyPr wrap="square" lIns="0" rIns="0" tIns="0" bIns="0" anchor="ctr">
            <a:spAutoFit/>
          </a:bodyPr>
          <a:lstStyle/>
          <a:p>
            <a:r>
              <a:rPr sz="1000" b="1" i="0">
                <a:solidFill>
                  <a:srgbClr val="1F2D3D"/>
                </a:solidFill>
                <a:latin typeface="Calibri"/>
              </a:rPr>
              <a:t>t_tstmp</a:t>
            </a:r>
          </a:p>
        </p:txBody>
      </p:sp>
      <p:sp>
        <p:nvSpPr>
          <p:cNvPr id="128" name="Attr_Type"/>
          <p:cNvSpPr txBox="1"/>
          <p:nvPr/>
        </p:nvSpPr>
        <p:spPr>
          <a:xfrm>
            <a:off x="8403336" y="3127248"/>
            <a:ext cx="950976" cy="237744"/>
          </a:xfrm>
          <a:prstGeom prst="rect">
            <a:avLst/>
          </a:prstGeom>
          <a:noFill/>
        </p:spPr>
        <p:txBody>
          <a:bodyPr wrap="square" lIns="0" rIns="0" tIns="0" bIns="0" anchor="ctr">
            <a:spAutoFit/>
          </a:bodyPr>
          <a:lstStyle/>
          <a:p>
            <a:pPr algn="r"/>
            <a:r>
              <a:rPr sz="850" b="0" i="0">
                <a:solidFill>
                  <a:srgbClr val="6B7785"/>
                </a:solidFill>
                <a:latin typeface="Calibri"/>
              </a:rPr>
              <a:t>dec(15,0)</a:t>
            </a:r>
          </a:p>
        </p:txBody>
      </p:sp>
      <p:sp>
        <p:nvSpPr>
          <p:cNvPr id="129" name="Row"/>
          <p:cNvSpPr/>
          <p:nvPr/>
        </p:nvSpPr>
        <p:spPr>
          <a:xfrm>
            <a:off x="7242048" y="3374136"/>
            <a:ext cx="2176272" cy="260603"/>
          </a:xfrm>
          <a:prstGeom prst="rect">
            <a:avLst/>
          </a:prstGeom>
          <a:solidFill>
            <a:srgbClr val="ECE3F5"/>
          </a:solidFill>
          <a:ln w="3175">
            <a:solidFill>
              <a:srgbClr val="ECE3F5"/>
            </a:solidFill>
          </a:ln>
          <a:effectLst/>
        </p:spPr>
        <p:txBody>
          <a:bodyPr rtlCol="0" anchor="ctr"/>
          <a:lstStyle/>
          <a:p>
            <a:pPr algn="ctr"/>
          </a:p>
        </p:txBody>
      </p:sp>
      <p:sp>
        <p:nvSpPr>
          <p:cNvPr id="130" name="Attr_Name"/>
          <p:cNvSpPr txBox="1"/>
          <p:nvPr/>
        </p:nvSpPr>
        <p:spPr>
          <a:xfrm>
            <a:off x="7598664" y="3387852"/>
            <a:ext cx="1051560" cy="237744"/>
          </a:xfrm>
          <a:prstGeom prst="rect">
            <a:avLst/>
          </a:prstGeom>
          <a:noFill/>
        </p:spPr>
        <p:txBody>
          <a:bodyPr wrap="square" lIns="0" rIns="0" tIns="0" bIns="0" anchor="ctr">
            <a:spAutoFit/>
          </a:bodyPr>
          <a:lstStyle/>
          <a:p>
            <a:r>
              <a:rPr sz="1000" b="1" i="0">
                <a:solidFill>
                  <a:srgbClr val="1F2D3D"/>
                </a:solidFill>
                <a:latin typeface="Calibri"/>
              </a:rPr>
              <a:t>t_tstmpl</a:t>
            </a:r>
          </a:p>
        </p:txBody>
      </p:sp>
      <p:sp>
        <p:nvSpPr>
          <p:cNvPr id="131" name="Attr_Type"/>
          <p:cNvSpPr txBox="1"/>
          <p:nvPr/>
        </p:nvSpPr>
        <p:spPr>
          <a:xfrm>
            <a:off x="8403336" y="3387852"/>
            <a:ext cx="950976" cy="237744"/>
          </a:xfrm>
          <a:prstGeom prst="rect">
            <a:avLst/>
          </a:prstGeom>
          <a:noFill/>
        </p:spPr>
        <p:txBody>
          <a:bodyPr wrap="square" lIns="0" rIns="0" tIns="0" bIns="0" anchor="ctr">
            <a:spAutoFit/>
          </a:bodyPr>
          <a:lstStyle/>
          <a:p>
            <a:pPr algn="r"/>
            <a:r>
              <a:rPr sz="850" b="0" i="0">
                <a:solidFill>
                  <a:srgbClr val="6B7785"/>
                </a:solidFill>
                <a:latin typeface="Calibri"/>
              </a:rPr>
              <a:t>dec(21,7)</a:t>
            </a:r>
          </a:p>
        </p:txBody>
      </p:sp>
      <p:sp>
        <p:nvSpPr>
          <p:cNvPr id="132" name="Row"/>
          <p:cNvSpPr/>
          <p:nvPr/>
        </p:nvSpPr>
        <p:spPr>
          <a:xfrm>
            <a:off x="7242048" y="3634739"/>
            <a:ext cx="2176272" cy="260603"/>
          </a:xfrm>
          <a:prstGeom prst="rect">
            <a:avLst/>
          </a:prstGeom>
          <a:solidFill>
            <a:srgbClr val="FFFFFF"/>
          </a:solidFill>
          <a:ln w="3175">
            <a:solidFill>
              <a:srgbClr val="FFFFFF"/>
            </a:solidFill>
          </a:ln>
          <a:effectLst/>
        </p:spPr>
        <p:txBody>
          <a:bodyPr rtlCol="0" anchor="ctr"/>
          <a:lstStyle/>
          <a:p>
            <a:pPr algn="ctr"/>
          </a:p>
        </p:txBody>
      </p:sp>
      <p:sp>
        <p:nvSpPr>
          <p:cNvPr id="133" name="Attr_Name"/>
          <p:cNvSpPr txBox="1"/>
          <p:nvPr/>
        </p:nvSpPr>
        <p:spPr>
          <a:xfrm>
            <a:off x="7598664" y="3648456"/>
            <a:ext cx="1051560" cy="237744"/>
          </a:xfrm>
          <a:prstGeom prst="rect">
            <a:avLst/>
          </a:prstGeom>
          <a:noFill/>
        </p:spPr>
        <p:txBody>
          <a:bodyPr wrap="square" lIns="0" rIns="0" tIns="0" bIns="0" anchor="ctr">
            <a:spAutoFit/>
          </a:bodyPr>
          <a:lstStyle/>
          <a:p>
            <a:r>
              <a:rPr sz="1000" b="1" i="0">
                <a:solidFill>
                  <a:srgbClr val="1F2D3D"/>
                </a:solidFill>
                <a:latin typeface="Calibri"/>
              </a:rPr>
              <a:t>t_tzone</a:t>
            </a:r>
          </a:p>
        </p:txBody>
      </p:sp>
      <p:sp>
        <p:nvSpPr>
          <p:cNvPr id="134" name="Attr_Type"/>
          <p:cNvSpPr txBox="1"/>
          <p:nvPr/>
        </p:nvSpPr>
        <p:spPr>
          <a:xfrm>
            <a:off x="8403336" y="3648456"/>
            <a:ext cx="950976" cy="237744"/>
          </a:xfrm>
          <a:prstGeom prst="rect">
            <a:avLst/>
          </a:prstGeom>
          <a:noFill/>
        </p:spPr>
        <p:txBody>
          <a:bodyPr wrap="square" lIns="0" rIns="0" tIns="0" bIns="0" anchor="ctr">
            <a:spAutoFit/>
          </a:bodyPr>
          <a:lstStyle/>
          <a:p>
            <a:pPr algn="r"/>
            <a:r>
              <a:rPr sz="850" b="0" i="0">
                <a:solidFill>
                  <a:srgbClr val="6B7785"/>
                </a:solidFill>
                <a:latin typeface="Calibri"/>
              </a:rPr>
              <a:t>char(6)</a:t>
            </a:r>
          </a:p>
        </p:txBody>
      </p:sp>
      <p:sp>
        <p:nvSpPr>
          <p:cNvPr id="135" name="Row"/>
          <p:cNvSpPr/>
          <p:nvPr/>
        </p:nvSpPr>
        <p:spPr>
          <a:xfrm>
            <a:off x="7242048" y="3895344"/>
            <a:ext cx="2176272" cy="260603"/>
          </a:xfrm>
          <a:prstGeom prst="rect">
            <a:avLst/>
          </a:prstGeom>
          <a:solidFill>
            <a:srgbClr val="ECE3F5"/>
          </a:solidFill>
          <a:ln w="3175">
            <a:solidFill>
              <a:srgbClr val="ECE3F5"/>
            </a:solidFill>
          </a:ln>
          <a:effectLst/>
        </p:spPr>
        <p:txBody>
          <a:bodyPr rtlCol="0" anchor="ctr"/>
          <a:lstStyle/>
          <a:p>
            <a:pPr algn="ctr"/>
          </a:p>
        </p:txBody>
      </p:sp>
      <p:sp>
        <p:nvSpPr>
          <p:cNvPr id="136" name="Attr_Name"/>
          <p:cNvSpPr txBox="1"/>
          <p:nvPr/>
        </p:nvSpPr>
        <p:spPr>
          <a:xfrm>
            <a:off x="7598664" y="3909059"/>
            <a:ext cx="1051560" cy="237744"/>
          </a:xfrm>
          <a:prstGeom prst="rect">
            <a:avLst/>
          </a:prstGeom>
          <a:noFill/>
        </p:spPr>
        <p:txBody>
          <a:bodyPr wrap="square" lIns="0" rIns="0" tIns="0" bIns="0" anchor="ctr">
            <a:spAutoFit/>
          </a:bodyPr>
          <a:lstStyle/>
          <a:p>
            <a:r>
              <a:rPr sz="1000" b="1" i="0">
                <a:solidFill>
                  <a:srgbClr val="1F2D3D"/>
                </a:solidFill>
                <a:latin typeface="Calibri"/>
              </a:rPr>
              <a:t>t_accp</a:t>
            </a:r>
          </a:p>
        </p:txBody>
      </p:sp>
      <p:sp>
        <p:nvSpPr>
          <p:cNvPr id="137" name="Attr_Type"/>
          <p:cNvSpPr txBox="1"/>
          <p:nvPr/>
        </p:nvSpPr>
        <p:spPr>
          <a:xfrm>
            <a:off x="8403336" y="3909059"/>
            <a:ext cx="950976" cy="237744"/>
          </a:xfrm>
          <a:prstGeom prst="rect">
            <a:avLst/>
          </a:prstGeom>
          <a:noFill/>
        </p:spPr>
        <p:txBody>
          <a:bodyPr wrap="square" lIns="0" rIns="0" tIns="0" bIns="0" anchor="ctr">
            <a:spAutoFit/>
          </a:bodyPr>
          <a:lstStyle/>
          <a:p>
            <a:pPr algn="r"/>
            <a:r>
              <a:rPr sz="850" b="0" i="0">
                <a:solidFill>
                  <a:srgbClr val="6B7785"/>
                </a:solidFill>
                <a:latin typeface="Calibri"/>
              </a:rPr>
              <a:t>abap.accp</a:t>
            </a:r>
          </a:p>
        </p:txBody>
      </p:sp>
      <p:sp>
        <p:nvSpPr>
          <p:cNvPr id="138" name="Group_Band"/>
          <p:cNvSpPr/>
          <p:nvPr/>
        </p:nvSpPr>
        <p:spPr>
          <a:xfrm>
            <a:off x="9473184" y="1463040"/>
            <a:ext cx="2176272" cy="310896"/>
          </a:xfrm>
          <a:prstGeom prst="rect">
            <a:avLst/>
          </a:prstGeom>
          <a:solidFill>
            <a:srgbClr val="9C3D54"/>
          </a:solidFill>
          <a:ln w="6350">
            <a:solidFill>
              <a:srgbClr val="9C3D54"/>
            </a:solidFill>
          </a:ln>
          <a:effectLst/>
        </p:spPr>
        <p:txBody>
          <a:bodyPr rtlCol="0" anchor="ctr"/>
          <a:lstStyle/>
          <a:p>
            <a:pPr algn="ctr"/>
          </a:p>
        </p:txBody>
      </p:sp>
      <p:sp>
        <p:nvSpPr>
          <p:cNvPr id="139" name="Group_Name"/>
          <p:cNvSpPr txBox="1"/>
          <p:nvPr/>
        </p:nvSpPr>
        <p:spPr>
          <a:xfrm>
            <a:off x="9518904" y="1472184"/>
            <a:ext cx="1408176" cy="292608"/>
          </a:xfrm>
          <a:prstGeom prst="rect">
            <a:avLst/>
          </a:prstGeom>
          <a:noFill/>
        </p:spPr>
        <p:txBody>
          <a:bodyPr wrap="square" lIns="0" rIns="0" tIns="0" bIns="0" anchor="ctr">
            <a:spAutoFit/>
          </a:bodyPr>
          <a:lstStyle/>
          <a:p>
            <a:r>
              <a:rPr sz="1100" b="1" i="0">
                <a:solidFill>
                  <a:srgbClr val="FFFFFF"/>
                </a:solidFill>
                <a:latin typeface="Calibri"/>
              </a:rPr>
              <a:t>Special types</a:t>
            </a:r>
          </a:p>
        </p:txBody>
      </p:sp>
      <p:sp>
        <p:nvSpPr>
          <p:cNvPr id="140" name="Group_Count"/>
          <p:cNvSpPr txBox="1"/>
          <p:nvPr/>
        </p:nvSpPr>
        <p:spPr>
          <a:xfrm>
            <a:off x="10899648" y="1472184"/>
            <a:ext cx="685800" cy="292608"/>
          </a:xfrm>
          <a:prstGeom prst="rect">
            <a:avLst/>
          </a:prstGeom>
          <a:noFill/>
        </p:spPr>
        <p:txBody>
          <a:bodyPr wrap="square" lIns="0" rIns="0" tIns="0" bIns="0" anchor="ctr">
            <a:spAutoFit/>
          </a:bodyPr>
          <a:lstStyle/>
          <a:p>
            <a:pPr algn="r"/>
            <a:r>
              <a:rPr sz="900" b="0" i="0">
                <a:solidFill>
                  <a:srgbClr val="FFFFFF"/>
                </a:solidFill>
                <a:latin typeface="Calibri"/>
              </a:rPr>
              <a:t>6 cols</a:t>
            </a:r>
          </a:p>
        </p:txBody>
      </p:sp>
      <p:sp>
        <p:nvSpPr>
          <p:cNvPr id="141" name="Row"/>
          <p:cNvSpPr/>
          <p:nvPr/>
        </p:nvSpPr>
        <p:spPr>
          <a:xfrm>
            <a:off x="9473184" y="1810512"/>
            <a:ext cx="2176272" cy="260603"/>
          </a:xfrm>
          <a:prstGeom prst="rect">
            <a:avLst/>
          </a:prstGeom>
          <a:solidFill>
            <a:srgbClr val="F6E1E6"/>
          </a:solidFill>
          <a:ln w="3175">
            <a:solidFill>
              <a:srgbClr val="F6E1E6"/>
            </a:solidFill>
          </a:ln>
          <a:effectLst/>
        </p:spPr>
        <p:txBody>
          <a:bodyPr rtlCol="0" anchor="ctr"/>
          <a:lstStyle/>
          <a:p>
            <a:pPr algn="ctr"/>
          </a:p>
        </p:txBody>
      </p:sp>
      <p:sp>
        <p:nvSpPr>
          <p:cNvPr id="142" name="Attr_Name"/>
          <p:cNvSpPr txBox="1"/>
          <p:nvPr/>
        </p:nvSpPr>
        <p:spPr>
          <a:xfrm>
            <a:off x="9829800" y="1824228"/>
            <a:ext cx="1051560" cy="237744"/>
          </a:xfrm>
          <a:prstGeom prst="rect">
            <a:avLst/>
          </a:prstGeom>
          <a:noFill/>
        </p:spPr>
        <p:txBody>
          <a:bodyPr wrap="square" lIns="0" rIns="0" tIns="0" bIns="0" anchor="ctr">
            <a:spAutoFit/>
          </a:bodyPr>
          <a:lstStyle/>
          <a:p>
            <a:r>
              <a:rPr sz="1000" b="1" i="0">
                <a:solidFill>
                  <a:srgbClr val="1F2D3D"/>
                </a:solidFill>
                <a:latin typeface="Calibri"/>
              </a:rPr>
              <a:t>t_lang</a:t>
            </a:r>
          </a:p>
        </p:txBody>
      </p:sp>
      <p:sp>
        <p:nvSpPr>
          <p:cNvPr id="143" name="Attr_Type"/>
          <p:cNvSpPr txBox="1"/>
          <p:nvPr/>
        </p:nvSpPr>
        <p:spPr>
          <a:xfrm>
            <a:off x="10634472" y="1824228"/>
            <a:ext cx="950976" cy="237744"/>
          </a:xfrm>
          <a:prstGeom prst="rect">
            <a:avLst/>
          </a:prstGeom>
          <a:noFill/>
        </p:spPr>
        <p:txBody>
          <a:bodyPr wrap="square" lIns="0" rIns="0" tIns="0" bIns="0" anchor="ctr">
            <a:spAutoFit/>
          </a:bodyPr>
          <a:lstStyle/>
          <a:p>
            <a:pPr algn="r"/>
            <a:r>
              <a:rPr sz="850" b="0" i="0">
                <a:solidFill>
                  <a:srgbClr val="6B7785"/>
                </a:solidFill>
                <a:latin typeface="Calibri"/>
              </a:rPr>
              <a:t>abap.lang</a:t>
            </a:r>
          </a:p>
        </p:txBody>
      </p:sp>
      <p:sp>
        <p:nvSpPr>
          <p:cNvPr id="144" name="Row"/>
          <p:cNvSpPr/>
          <p:nvPr/>
        </p:nvSpPr>
        <p:spPr>
          <a:xfrm>
            <a:off x="9473184" y="2071116"/>
            <a:ext cx="2176272" cy="260603"/>
          </a:xfrm>
          <a:prstGeom prst="rect">
            <a:avLst/>
          </a:prstGeom>
          <a:solidFill>
            <a:srgbClr val="FFFFFF"/>
          </a:solidFill>
          <a:ln w="3175">
            <a:solidFill>
              <a:srgbClr val="FFFFFF"/>
            </a:solidFill>
          </a:ln>
          <a:effectLst/>
        </p:spPr>
        <p:txBody>
          <a:bodyPr rtlCol="0" anchor="ctr"/>
          <a:lstStyle/>
          <a:p>
            <a:pPr algn="ctr"/>
          </a:p>
        </p:txBody>
      </p:sp>
      <p:sp>
        <p:nvSpPr>
          <p:cNvPr id="145" name="Pair_Marker"/>
          <p:cNvSpPr/>
          <p:nvPr/>
        </p:nvSpPr>
        <p:spPr>
          <a:xfrm>
            <a:off x="9573768" y="2139696"/>
            <a:ext cx="118872" cy="118872"/>
          </a:xfrm>
          <a:prstGeom prst="ellipse">
            <a:avLst/>
          </a:prstGeom>
          <a:solidFill>
            <a:srgbClr val="2E8B57"/>
          </a:solidFill>
          <a:ln w="6350">
            <a:solidFill>
              <a:srgbClr val="2E8B57"/>
            </a:solidFill>
          </a:ln>
          <a:effectLst/>
        </p:spPr>
        <p:txBody>
          <a:bodyPr rtlCol="0" anchor="ctr"/>
          <a:lstStyle/>
          <a:p>
            <a:pPr algn="ctr"/>
          </a:p>
        </p:txBody>
      </p:sp>
      <p:sp>
        <p:nvSpPr>
          <p:cNvPr id="146" name="Attr_Name"/>
          <p:cNvSpPr txBox="1"/>
          <p:nvPr/>
        </p:nvSpPr>
        <p:spPr>
          <a:xfrm>
            <a:off x="9829800" y="2084832"/>
            <a:ext cx="1051560" cy="237744"/>
          </a:xfrm>
          <a:prstGeom prst="rect">
            <a:avLst/>
          </a:prstGeom>
          <a:noFill/>
        </p:spPr>
        <p:txBody>
          <a:bodyPr wrap="square" lIns="0" rIns="0" tIns="0" bIns="0" anchor="ctr">
            <a:spAutoFit/>
          </a:bodyPr>
          <a:lstStyle/>
          <a:p>
            <a:r>
              <a:rPr sz="1000" b="1" i="0">
                <a:solidFill>
                  <a:srgbClr val="1F2D3D"/>
                </a:solidFill>
                <a:latin typeface="Calibri"/>
              </a:rPr>
              <a:t>t_cuky</a:t>
            </a:r>
          </a:p>
        </p:txBody>
      </p:sp>
      <p:sp>
        <p:nvSpPr>
          <p:cNvPr id="147" name="Attr_Type"/>
          <p:cNvSpPr txBox="1"/>
          <p:nvPr/>
        </p:nvSpPr>
        <p:spPr>
          <a:xfrm>
            <a:off x="10634472" y="2084832"/>
            <a:ext cx="950976" cy="237744"/>
          </a:xfrm>
          <a:prstGeom prst="rect">
            <a:avLst/>
          </a:prstGeom>
          <a:noFill/>
        </p:spPr>
        <p:txBody>
          <a:bodyPr wrap="square" lIns="0" rIns="0" tIns="0" bIns="0" anchor="ctr">
            <a:spAutoFit/>
          </a:bodyPr>
          <a:lstStyle/>
          <a:p>
            <a:pPr algn="r"/>
            <a:r>
              <a:rPr sz="850" b="0" i="0">
                <a:solidFill>
                  <a:srgbClr val="6B7785"/>
                </a:solidFill>
                <a:latin typeface="Calibri"/>
              </a:rPr>
              <a:t>abap.cuky</a:t>
            </a:r>
          </a:p>
        </p:txBody>
      </p:sp>
      <p:sp>
        <p:nvSpPr>
          <p:cNvPr id="148" name="Row"/>
          <p:cNvSpPr/>
          <p:nvPr/>
        </p:nvSpPr>
        <p:spPr>
          <a:xfrm>
            <a:off x="9473184" y="2331720"/>
            <a:ext cx="2176272" cy="260603"/>
          </a:xfrm>
          <a:prstGeom prst="rect">
            <a:avLst/>
          </a:prstGeom>
          <a:solidFill>
            <a:srgbClr val="F6E1E6"/>
          </a:solidFill>
          <a:ln w="3175">
            <a:solidFill>
              <a:srgbClr val="F6E1E6"/>
            </a:solidFill>
          </a:ln>
          <a:effectLst/>
        </p:spPr>
        <p:txBody>
          <a:bodyPr rtlCol="0" anchor="ctr"/>
          <a:lstStyle/>
          <a:p>
            <a:pPr algn="ctr"/>
          </a:p>
        </p:txBody>
      </p:sp>
      <p:sp>
        <p:nvSpPr>
          <p:cNvPr id="149" name="Pair_Marker"/>
          <p:cNvSpPr/>
          <p:nvPr/>
        </p:nvSpPr>
        <p:spPr>
          <a:xfrm>
            <a:off x="9573768" y="2400300"/>
            <a:ext cx="118872" cy="118872"/>
          </a:xfrm>
          <a:prstGeom prst="ellipse">
            <a:avLst/>
          </a:prstGeom>
          <a:solidFill>
            <a:srgbClr val="2E8B57"/>
          </a:solidFill>
          <a:ln w="6350">
            <a:solidFill>
              <a:srgbClr val="2E8B57"/>
            </a:solidFill>
          </a:ln>
          <a:effectLst/>
        </p:spPr>
        <p:txBody>
          <a:bodyPr rtlCol="0" anchor="ctr"/>
          <a:lstStyle/>
          <a:p>
            <a:pPr algn="ctr"/>
          </a:p>
        </p:txBody>
      </p:sp>
      <p:sp>
        <p:nvSpPr>
          <p:cNvPr id="150" name="Attr_Name"/>
          <p:cNvSpPr txBox="1"/>
          <p:nvPr/>
        </p:nvSpPr>
        <p:spPr>
          <a:xfrm>
            <a:off x="9829800" y="2345436"/>
            <a:ext cx="1051560" cy="237744"/>
          </a:xfrm>
          <a:prstGeom prst="rect">
            <a:avLst/>
          </a:prstGeom>
          <a:noFill/>
        </p:spPr>
        <p:txBody>
          <a:bodyPr wrap="square" lIns="0" rIns="0" tIns="0" bIns="0" anchor="ctr">
            <a:spAutoFit/>
          </a:bodyPr>
          <a:lstStyle/>
          <a:p>
            <a:r>
              <a:rPr sz="1000" b="1" i="0">
                <a:solidFill>
                  <a:srgbClr val="1F2D3D"/>
                </a:solidFill>
                <a:latin typeface="Calibri"/>
              </a:rPr>
              <a:t>t_curr</a:t>
            </a:r>
          </a:p>
        </p:txBody>
      </p:sp>
      <p:sp>
        <p:nvSpPr>
          <p:cNvPr id="151" name="Attr_Type"/>
          <p:cNvSpPr txBox="1"/>
          <p:nvPr/>
        </p:nvSpPr>
        <p:spPr>
          <a:xfrm>
            <a:off x="10634472" y="2345436"/>
            <a:ext cx="950976" cy="237744"/>
          </a:xfrm>
          <a:prstGeom prst="rect">
            <a:avLst/>
          </a:prstGeom>
          <a:noFill/>
        </p:spPr>
        <p:txBody>
          <a:bodyPr wrap="square" lIns="0" rIns="0" tIns="0" bIns="0" anchor="ctr">
            <a:spAutoFit/>
          </a:bodyPr>
          <a:lstStyle/>
          <a:p>
            <a:pPr algn="r"/>
            <a:r>
              <a:rPr sz="850" b="0" i="0">
                <a:solidFill>
                  <a:srgbClr val="6B7785"/>
                </a:solidFill>
                <a:latin typeface="Calibri"/>
              </a:rPr>
              <a:t>curr(9,2)</a:t>
            </a:r>
          </a:p>
        </p:txBody>
      </p:sp>
      <p:sp>
        <p:nvSpPr>
          <p:cNvPr id="152" name="Row"/>
          <p:cNvSpPr/>
          <p:nvPr/>
        </p:nvSpPr>
        <p:spPr>
          <a:xfrm>
            <a:off x="9473184" y="2592324"/>
            <a:ext cx="2176272" cy="260603"/>
          </a:xfrm>
          <a:prstGeom prst="rect">
            <a:avLst/>
          </a:prstGeom>
          <a:solidFill>
            <a:srgbClr val="FFFFFF"/>
          </a:solidFill>
          <a:ln w="3175">
            <a:solidFill>
              <a:srgbClr val="FFFFFF"/>
            </a:solidFill>
          </a:ln>
          <a:effectLst/>
        </p:spPr>
        <p:txBody>
          <a:bodyPr rtlCol="0" anchor="ctr"/>
          <a:lstStyle/>
          <a:p>
            <a:pPr algn="ctr"/>
          </a:p>
        </p:txBody>
      </p:sp>
      <p:sp>
        <p:nvSpPr>
          <p:cNvPr id="153" name="Pair_Marker"/>
          <p:cNvSpPr/>
          <p:nvPr/>
        </p:nvSpPr>
        <p:spPr>
          <a:xfrm>
            <a:off x="9573768" y="2660904"/>
            <a:ext cx="118872" cy="118872"/>
          </a:xfrm>
          <a:prstGeom prst="ellipse">
            <a:avLst/>
          </a:prstGeom>
          <a:solidFill>
            <a:srgbClr val="2980B9"/>
          </a:solidFill>
          <a:ln w="6350">
            <a:solidFill>
              <a:srgbClr val="2980B9"/>
            </a:solidFill>
          </a:ln>
          <a:effectLst/>
        </p:spPr>
        <p:txBody>
          <a:bodyPr rtlCol="0" anchor="ctr"/>
          <a:lstStyle/>
          <a:p>
            <a:pPr algn="ctr"/>
          </a:p>
        </p:txBody>
      </p:sp>
      <p:sp>
        <p:nvSpPr>
          <p:cNvPr id="154" name="Attr_Name"/>
          <p:cNvSpPr txBox="1"/>
          <p:nvPr/>
        </p:nvSpPr>
        <p:spPr>
          <a:xfrm>
            <a:off x="9829800" y="2606040"/>
            <a:ext cx="1051560" cy="237744"/>
          </a:xfrm>
          <a:prstGeom prst="rect">
            <a:avLst/>
          </a:prstGeom>
          <a:noFill/>
        </p:spPr>
        <p:txBody>
          <a:bodyPr wrap="square" lIns="0" rIns="0" tIns="0" bIns="0" anchor="ctr">
            <a:spAutoFit/>
          </a:bodyPr>
          <a:lstStyle/>
          <a:p>
            <a:r>
              <a:rPr sz="1000" b="1" i="0">
                <a:solidFill>
                  <a:srgbClr val="1F2D3D"/>
                </a:solidFill>
                <a:latin typeface="Calibri"/>
              </a:rPr>
              <a:t>t_unit</a:t>
            </a:r>
          </a:p>
        </p:txBody>
      </p:sp>
      <p:sp>
        <p:nvSpPr>
          <p:cNvPr id="155" name="Attr_Type"/>
          <p:cNvSpPr txBox="1"/>
          <p:nvPr/>
        </p:nvSpPr>
        <p:spPr>
          <a:xfrm>
            <a:off x="10634472" y="2606040"/>
            <a:ext cx="950976" cy="237744"/>
          </a:xfrm>
          <a:prstGeom prst="rect">
            <a:avLst/>
          </a:prstGeom>
          <a:noFill/>
        </p:spPr>
        <p:txBody>
          <a:bodyPr wrap="square" lIns="0" rIns="0" tIns="0" bIns="0" anchor="ctr">
            <a:spAutoFit/>
          </a:bodyPr>
          <a:lstStyle/>
          <a:p>
            <a:pPr algn="r"/>
            <a:r>
              <a:rPr sz="850" b="0" i="0">
                <a:solidFill>
                  <a:srgbClr val="6B7785"/>
                </a:solidFill>
                <a:latin typeface="Calibri"/>
              </a:rPr>
              <a:t>unit(3)</a:t>
            </a:r>
          </a:p>
        </p:txBody>
      </p:sp>
      <p:sp>
        <p:nvSpPr>
          <p:cNvPr id="156" name="Row"/>
          <p:cNvSpPr/>
          <p:nvPr/>
        </p:nvSpPr>
        <p:spPr>
          <a:xfrm>
            <a:off x="9473184" y="2852928"/>
            <a:ext cx="2176272" cy="260603"/>
          </a:xfrm>
          <a:prstGeom prst="rect">
            <a:avLst/>
          </a:prstGeom>
          <a:solidFill>
            <a:srgbClr val="F6E1E6"/>
          </a:solidFill>
          <a:ln w="3175">
            <a:solidFill>
              <a:srgbClr val="F6E1E6"/>
            </a:solidFill>
          </a:ln>
          <a:effectLst/>
        </p:spPr>
        <p:txBody>
          <a:bodyPr rtlCol="0" anchor="ctr"/>
          <a:lstStyle/>
          <a:p>
            <a:pPr algn="ctr"/>
          </a:p>
        </p:txBody>
      </p:sp>
      <p:sp>
        <p:nvSpPr>
          <p:cNvPr id="157" name="Pair_Marker"/>
          <p:cNvSpPr/>
          <p:nvPr/>
        </p:nvSpPr>
        <p:spPr>
          <a:xfrm>
            <a:off x="9573768" y="2921508"/>
            <a:ext cx="118872" cy="118872"/>
          </a:xfrm>
          <a:prstGeom prst="ellipse">
            <a:avLst/>
          </a:prstGeom>
          <a:solidFill>
            <a:srgbClr val="2980B9"/>
          </a:solidFill>
          <a:ln w="6350">
            <a:solidFill>
              <a:srgbClr val="2980B9"/>
            </a:solidFill>
          </a:ln>
          <a:effectLst/>
        </p:spPr>
        <p:txBody>
          <a:bodyPr rtlCol="0" anchor="ctr"/>
          <a:lstStyle/>
          <a:p>
            <a:pPr algn="ctr"/>
          </a:p>
        </p:txBody>
      </p:sp>
      <p:sp>
        <p:nvSpPr>
          <p:cNvPr id="158" name="Attr_Name"/>
          <p:cNvSpPr txBox="1"/>
          <p:nvPr/>
        </p:nvSpPr>
        <p:spPr>
          <a:xfrm>
            <a:off x="9829800" y="2866644"/>
            <a:ext cx="1051560" cy="237744"/>
          </a:xfrm>
          <a:prstGeom prst="rect">
            <a:avLst/>
          </a:prstGeom>
          <a:noFill/>
        </p:spPr>
        <p:txBody>
          <a:bodyPr wrap="square" lIns="0" rIns="0" tIns="0" bIns="0" anchor="ctr">
            <a:spAutoFit/>
          </a:bodyPr>
          <a:lstStyle/>
          <a:p>
            <a:r>
              <a:rPr sz="1000" b="1" i="0">
                <a:solidFill>
                  <a:srgbClr val="1F2D3D"/>
                </a:solidFill>
                <a:latin typeface="Calibri"/>
              </a:rPr>
              <a:t>t_quan</a:t>
            </a:r>
          </a:p>
        </p:txBody>
      </p:sp>
      <p:sp>
        <p:nvSpPr>
          <p:cNvPr id="159" name="Attr_Type"/>
          <p:cNvSpPr txBox="1"/>
          <p:nvPr/>
        </p:nvSpPr>
        <p:spPr>
          <a:xfrm>
            <a:off x="10634472" y="2866644"/>
            <a:ext cx="950976" cy="237744"/>
          </a:xfrm>
          <a:prstGeom prst="rect">
            <a:avLst/>
          </a:prstGeom>
          <a:noFill/>
        </p:spPr>
        <p:txBody>
          <a:bodyPr wrap="square" lIns="0" rIns="0" tIns="0" bIns="0" anchor="ctr">
            <a:spAutoFit/>
          </a:bodyPr>
          <a:lstStyle/>
          <a:p>
            <a:pPr algn="r"/>
            <a:r>
              <a:rPr sz="850" b="0" i="0">
                <a:solidFill>
                  <a:srgbClr val="6B7785"/>
                </a:solidFill>
                <a:latin typeface="Calibri"/>
              </a:rPr>
              <a:t>quan(9,3)</a:t>
            </a:r>
          </a:p>
        </p:txBody>
      </p:sp>
      <p:sp>
        <p:nvSpPr>
          <p:cNvPr id="160" name="Row"/>
          <p:cNvSpPr/>
          <p:nvPr/>
        </p:nvSpPr>
        <p:spPr>
          <a:xfrm>
            <a:off x="9473184" y="3113532"/>
            <a:ext cx="2176272" cy="260603"/>
          </a:xfrm>
          <a:prstGeom prst="rect">
            <a:avLst/>
          </a:prstGeom>
          <a:solidFill>
            <a:srgbClr val="FFFFFF"/>
          </a:solidFill>
          <a:ln w="3175">
            <a:solidFill>
              <a:srgbClr val="FFFFFF"/>
            </a:solidFill>
          </a:ln>
          <a:effectLst/>
        </p:spPr>
        <p:txBody>
          <a:bodyPr rtlCol="0" anchor="ctr"/>
          <a:lstStyle/>
          <a:p>
            <a:pPr algn="ctr"/>
          </a:p>
        </p:txBody>
      </p:sp>
      <p:sp>
        <p:nvSpPr>
          <p:cNvPr id="161" name="Attr_Name"/>
          <p:cNvSpPr txBox="1"/>
          <p:nvPr/>
        </p:nvSpPr>
        <p:spPr>
          <a:xfrm>
            <a:off x="9829800" y="3127248"/>
            <a:ext cx="1051560" cy="237744"/>
          </a:xfrm>
          <a:prstGeom prst="rect">
            <a:avLst/>
          </a:prstGeom>
          <a:noFill/>
        </p:spPr>
        <p:txBody>
          <a:bodyPr wrap="square" lIns="0" rIns="0" tIns="0" bIns="0" anchor="ctr">
            <a:spAutoFit/>
          </a:bodyPr>
          <a:lstStyle/>
          <a:p>
            <a:r>
              <a:rPr sz="1000" b="1" i="0">
                <a:solidFill>
                  <a:srgbClr val="1F2D3D"/>
                </a:solidFill>
                <a:latin typeface="Calibri"/>
              </a:rPr>
              <a:t>t_raw</a:t>
            </a:r>
          </a:p>
        </p:txBody>
      </p:sp>
      <p:sp>
        <p:nvSpPr>
          <p:cNvPr id="162" name="Attr_Type"/>
          <p:cNvSpPr txBox="1"/>
          <p:nvPr/>
        </p:nvSpPr>
        <p:spPr>
          <a:xfrm>
            <a:off x="10634472" y="3127248"/>
            <a:ext cx="950976" cy="237744"/>
          </a:xfrm>
          <a:prstGeom prst="rect">
            <a:avLst/>
          </a:prstGeom>
          <a:noFill/>
        </p:spPr>
        <p:txBody>
          <a:bodyPr wrap="square" lIns="0" rIns="0" tIns="0" bIns="0" anchor="ctr">
            <a:spAutoFit/>
          </a:bodyPr>
          <a:lstStyle/>
          <a:p>
            <a:pPr algn="r"/>
            <a:r>
              <a:rPr sz="850" b="0" i="0">
                <a:solidFill>
                  <a:srgbClr val="6B7785"/>
                </a:solidFill>
                <a:latin typeface="Calibri"/>
              </a:rPr>
              <a:t>raw(8)</a:t>
            </a:r>
          </a:p>
        </p:txBody>
      </p:sp>
      <p:sp>
        <p:nvSpPr>
          <p:cNvPr id="163" name="Pairs_Title"/>
          <p:cNvSpPr txBox="1"/>
          <p:nvPr/>
        </p:nvSpPr>
        <p:spPr>
          <a:xfrm>
            <a:off x="429768" y="5367528"/>
            <a:ext cx="2743200" cy="228600"/>
          </a:xfrm>
          <a:prstGeom prst="rect">
            <a:avLst/>
          </a:prstGeom>
          <a:noFill/>
        </p:spPr>
        <p:txBody>
          <a:bodyPr wrap="square" lIns="0" rIns="0" tIns="0" bIns="0" anchor="t">
            <a:spAutoFit/>
          </a:bodyPr>
          <a:lstStyle/>
          <a:p>
            <a:r>
              <a:rPr sz="1050" b="1" i="0">
                <a:solidFill>
                  <a:srgbClr val="1C2E4A"/>
                </a:solidFill>
                <a:latin typeface="Calibri"/>
              </a:rPr>
              <a:t>Columns that belong together (same colored dot)</a:t>
            </a:r>
          </a:p>
        </p:txBody>
      </p:sp>
      <p:sp>
        <p:nvSpPr>
          <p:cNvPr id="164" name="Pair_Chip"/>
          <p:cNvSpPr/>
          <p:nvPr/>
        </p:nvSpPr>
        <p:spPr>
          <a:xfrm>
            <a:off x="429768" y="5678424"/>
            <a:ext cx="2724912" cy="384048"/>
          </a:xfrm>
          <a:prstGeom prst="roundRect">
            <a:avLst/>
          </a:prstGeom>
          <a:solidFill>
            <a:srgbClr val="F4F6F8"/>
          </a:solidFill>
          <a:ln w="9525">
            <a:solidFill>
              <a:srgbClr val="D5DBE1"/>
            </a:solidFill>
          </a:ln>
          <a:effectLst/>
        </p:spPr>
        <p:txBody>
          <a:bodyPr rtlCol="0" anchor="ctr"/>
          <a:lstStyle/>
          <a:p>
            <a:pPr algn="ctr"/>
          </a:p>
        </p:txBody>
      </p:sp>
      <p:sp>
        <p:nvSpPr>
          <p:cNvPr id="165" name="Pair_Dot"/>
          <p:cNvSpPr/>
          <p:nvPr/>
        </p:nvSpPr>
        <p:spPr>
          <a:xfrm>
            <a:off x="539496" y="5806440"/>
            <a:ext cx="128016" cy="128016"/>
          </a:xfrm>
          <a:prstGeom prst="ellipse">
            <a:avLst/>
          </a:prstGeom>
          <a:solidFill>
            <a:srgbClr val="E67E22"/>
          </a:solidFill>
          <a:ln w="6350">
            <a:solidFill>
              <a:srgbClr val="E67E22"/>
            </a:solidFill>
          </a:ln>
          <a:effectLst/>
        </p:spPr>
        <p:txBody>
          <a:bodyPr rtlCol="0" anchor="ctr"/>
          <a:lstStyle/>
          <a:p>
            <a:pPr algn="ctr"/>
          </a:p>
        </p:txBody>
      </p:sp>
      <p:sp>
        <p:nvSpPr>
          <p:cNvPr id="166" name="Pair_Text"/>
          <p:cNvSpPr txBox="1"/>
          <p:nvPr/>
        </p:nvSpPr>
        <p:spPr>
          <a:xfrm>
            <a:off x="749808" y="5696712"/>
            <a:ext cx="2377440" cy="365760"/>
          </a:xfrm>
          <a:prstGeom prst="rect">
            <a:avLst/>
          </a:prstGeom>
          <a:noFill/>
        </p:spPr>
        <p:txBody>
          <a:bodyPr wrap="square" lIns="0" rIns="0" tIns="0" bIns="0" anchor="ctr">
            <a:spAutoFit/>
          </a:bodyPr>
          <a:lstStyle/>
          <a:p>
            <a:r>
              <a:rPr sz="1000" b="1" i="0">
                <a:solidFill>
                  <a:srgbClr val="1F2D3D"/>
                </a:solidFill>
                <a:latin typeface="Calibri"/>
              </a:rPr>
              <a:t>Date cast pair</a:t>
            </a:r>
          </a:p>
          <a:p>
            <a:r>
              <a:rPr sz="900" b="0" i="0">
                <a:solidFill>
                  <a:srgbClr val="6B7785"/>
                </a:solidFill>
                <a:latin typeface="Calibri"/>
              </a:rPr>
              <a:t>t_char8 · t_numc8</a:t>
            </a:r>
          </a:p>
        </p:txBody>
      </p:sp>
      <p:sp>
        <p:nvSpPr>
          <p:cNvPr id="167" name="Pair_Chip"/>
          <p:cNvSpPr/>
          <p:nvPr/>
        </p:nvSpPr>
        <p:spPr>
          <a:xfrm>
            <a:off x="3264408" y="5678424"/>
            <a:ext cx="2724912" cy="384048"/>
          </a:xfrm>
          <a:prstGeom prst="roundRect">
            <a:avLst/>
          </a:prstGeom>
          <a:solidFill>
            <a:srgbClr val="F4F6F8"/>
          </a:solidFill>
          <a:ln w="9525">
            <a:solidFill>
              <a:srgbClr val="D5DBE1"/>
            </a:solidFill>
          </a:ln>
          <a:effectLst/>
        </p:spPr>
        <p:txBody>
          <a:bodyPr rtlCol="0" anchor="ctr"/>
          <a:lstStyle/>
          <a:p>
            <a:pPr algn="ctr"/>
          </a:p>
        </p:txBody>
      </p:sp>
      <p:sp>
        <p:nvSpPr>
          <p:cNvPr id="168" name="Pair_Dot"/>
          <p:cNvSpPr/>
          <p:nvPr/>
        </p:nvSpPr>
        <p:spPr>
          <a:xfrm>
            <a:off x="3374136" y="5806440"/>
            <a:ext cx="128016" cy="128016"/>
          </a:xfrm>
          <a:prstGeom prst="ellipse">
            <a:avLst/>
          </a:prstGeom>
          <a:solidFill>
            <a:srgbClr val="16A085"/>
          </a:solidFill>
          <a:ln w="6350">
            <a:solidFill>
              <a:srgbClr val="16A085"/>
            </a:solidFill>
          </a:ln>
          <a:effectLst/>
        </p:spPr>
        <p:txBody>
          <a:bodyPr rtlCol="0" anchor="ctr"/>
          <a:lstStyle/>
          <a:p>
            <a:pPr algn="ctr"/>
          </a:p>
        </p:txBody>
      </p:sp>
      <p:sp>
        <p:nvSpPr>
          <p:cNvPr id="169" name="Pair_Text"/>
          <p:cNvSpPr txBox="1"/>
          <p:nvPr/>
        </p:nvSpPr>
        <p:spPr>
          <a:xfrm>
            <a:off x="3584448" y="5696712"/>
            <a:ext cx="2377440" cy="365760"/>
          </a:xfrm>
          <a:prstGeom prst="rect">
            <a:avLst/>
          </a:prstGeom>
          <a:noFill/>
        </p:spPr>
        <p:txBody>
          <a:bodyPr wrap="square" lIns="0" rIns="0" tIns="0" bIns="0" anchor="ctr">
            <a:spAutoFit/>
          </a:bodyPr>
          <a:lstStyle/>
          <a:p>
            <a:r>
              <a:rPr sz="1000" b="1" i="0">
                <a:solidFill>
                  <a:srgbClr val="1F2D3D"/>
                </a:solidFill>
                <a:latin typeface="Calibri"/>
              </a:rPr>
              <a:t>Time cast pair</a:t>
            </a:r>
          </a:p>
          <a:p>
            <a:r>
              <a:rPr sz="900" b="0" i="0">
                <a:solidFill>
                  <a:srgbClr val="6B7785"/>
                </a:solidFill>
                <a:latin typeface="Calibri"/>
              </a:rPr>
              <a:t>t_char6 · t_numc6</a:t>
            </a:r>
          </a:p>
        </p:txBody>
      </p:sp>
      <p:sp>
        <p:nvSpPr>
          <p:cNvPr id="170" name="Pair_Chip"/>
          <p:cNvSpPr/>
          <p:nvPr/>
        </p:nvSpPr>
        <p:spPr>
          <a:xfrm>
            <a:off x="6099048" y="5678424"/>
            <a:ext cx="2724912" cy="384048"/>
          </a:xfrm>
          <a:prstGeom prst="roundRect">
            <a:avLst/>
          </a:prstGeom>
          <a:solidFill>
            <a:srgbClr val="F4F6F8"/>
          </a:solidFill>
          <a:ln w="9525">
            <a:solidFill>
              <a:srgbClr val="D5DBE1"/>
            </a:solidFill>
          </a:ln>
          <a:effectLst/>
        </p:spPr>
        <p:txBody>
          <a:bodyPr rtlCol="0" anchor="ctr"/>
          <a:lstStyle/>
          <a:p>
            <a:pPr algn="ctr"/>
          </a:p>
        </p:txBody>
      </p:sp>
      <p:sp>
        <p:nvSpPr>
          <p:cNvPr id="171" name="Pair_Dot"/>
          <p:cNvSpPr/>
          <p:nvPr/>
        </p:nvSpPr>
        <p:spPr>
          <a:xfrm>
            <a:off x="6208776" y="5806440"/>
            <a:ext cx="128016" cy="128016"/>
          </a:xfrm>
          <a:prstGeom prst="ellipse">
            <a:avLst/>
          </a:prstGeom>
          <a:solidFill>
            <a:srgbClr val="8E44AD"/>
          </a:solidFill>
          <a:ln w="6350">
            <a:solidFill>
              <a:srgbClr val="8E44AD"/>
            </a:solidFill>
          </a:ln>
          <a:effectLst/>
        </p:spPr>
        <p:txBody>
          <a:bodyPr rtlCol="0" anchor="ctr"/>
          <a:lstStyle/>
          <a:p>
            <a:pPr algn="ctr"/>
          </a:p>
        </p:txBody>
      </p:sp>
      <p:sp>
        <p:nvSpPr>
          <p:cNvPr id="172" name="Pair_Text"/>
          <p:cNvSpPr txBox="1"/>
          <p:nvPr/>
        </p:nvSpPr>
        <p:spPr>
          <a:xfrm>
            <a:off x="6419088" y="5696712"/>
            <a:ext cx="2377440" cy="365760"/>
          </a:xfrm>
          <a:prstGeom prst="rect">
            <a:avLst/>
          </a:prstGeom>
          <a:noFill/>
        </p:spPr>
        <p:txBody>
          <a:bodyPr wrap="square" lIns="0" rIns="0" tIns="0" bIns="0" anchor="ctr">
            <a:spAutoFit/>
          </a:bodyPr>
          <a:lstStyle/>
          <a:p>
            <a:r>
              <a:rPr sz="1000" b="1" i="0">
                <a:solidFill>
                  <a:srgbClr val="1F2D3D"/>
                </a:solidFill>
                <a:latin typeface="Calibri"/>
              </a:rPr>
              <a:t>Number cast pair</a:t>
            </a:r>
          </a:p>
          <a:p>
            <a:r>
              <a:rPr sz="900" b="0" i="0">
                <a:solidFill>
                  <a:srgbClr val="6B7785"/>
                </a:solidFill>
                <a:latin typeface="Calibri"/>
              </a:rPr>
              <a:t>t_char10 · t_numc10</a:t>
            </a:r>
          </a:p>
        </p:txBody>
      </p:sp>
      <p:sp>
        <p:nvSpPr>
          <p:cNvPr id="173" name="Pair_Chip"/>
          <p:cNvSpPr/>
          <p:nvPr/>
        </p:nvSpPr>
        <p:spPr>
          <a:xfrm>
            <a:off x="8933688" y="5678424"/>
            <a:ext cx="2724912" cy="384048"/>
          </a:xfrm>
          <a:prstGeom prst="roundRect">
            <a:avLst/>
          </a:prstGeom>
          <a:solidFill>
            <a:srgbClr val="F4F6F8"/>
          </a:solidFill>
          <a:ln w="9525">
            <a:solidFill>
              <a:srgbClr val="D5DBE1"/>
            </a:solidFill>
          </a:ln>
          <a:effectLst/>
        </p:spPr>
        <p:txBody>
          <a:bodyPr rtlCol="0" anchor="ctr"/>
          <a:lstStyle/>
          <a:p>
            <a:pPr algn="ctr"/>
          </a:p>
        </p:txBody>
      </p:sp>
      <p:sp>
        <p:nvSpPr>
          <p:cNvPr id="174" name="Pair_Dot"/>
          <p:cNvSpPr/>
          <p:nvPr/>
        </p:nvSpPr>
        <p:spPr>
          <a:xfrm>
            <a:off x="9043416" y="5806440"/>
            <a:ext cx="128016" cy="128016"/>
          </a:xfrm>
          <a:prstGeom prst="ellipse">
            <a:avLst/>
          </a:prstGeom>
          <a:solidFill>
            <a:srgbClr val="2E8B57"/>
          </a:solidFill>
          <a:ln w="6350">
            <a:solidFill>
              <a:srgbClr val="2E8B57"/>
            </a:solidFill>
          </a:ln>
          <a:effectLst/>
        </p:spPr>
        <p:txBody>
          <a:bodyPr rtlCol="0" anchor="ctr"/>
          <a:lstStyle/>
          <a:p>
            <a:pPr algn="ctr"/>
          </a:p>
        </p:txBody>
      </p:sp>
      <p:sp>
        <p:nvSpPr>
          <p:cNvPr id="175" name="Pair_Text"/>
          <p:cNvSpPr txBox="1"/>
          <p:nvPr/>
        </p:nvSpPr>
        <p:spPr>
          <a:xfrm>
            <a:off x="9253728" y="5696712"/>
            <a:ext cx="2377440" cy="365760"/>
          </a:xfrm>
          <a:prstGeom prst="rect">
            <a:avLst/>
          </a:prstGeom>
          <a:noFill/>
        </p:spPr>
        <p:txBody>
          <a:bodyPr wrap="square" lIns="0" rIns="0" tIns="0" bIns="0" anchor="ctr">
            <a:spAutoFit/>
          </a:bodyPr>
          <a:lstStyle/>
          <a:p>
            <a:r>
              <a:rPr sz="1000" b="1" i="0">
                <a:solidFill>
                  <a:srgbClr val="1F2D3D"/>
                </a:solidFill>
                <a:latin typeface="Calibri"/>
              </a:rPr>
              <a:t>Currency reference</a:t>
            </a:r>
          </a:p>
          <a:p>
            <a:r>
              <a:rPr sz="900" b="0" i="0">
                <a:solidFill>
                  <a:srgbClr val="6B7785"/>
                </a:solidFill>
                <a:latin typeface="Calibri"/>
              </a:rPr>
              <a:t>t_cuky · t_curr</a:t>
            </a:r>
          </a:p>
        </p:txBody>
      </p:sp>
      <p:sp>
        <p:nvSpPr>
          <p:cNvPr id="176" name="Pair_Chip"/>
          <p:cNvSpPr/>
          <p:nvPr/>
        </p:nvSpPr>
        <p:spPr>
          <a:xfrm>
            <a:off x="429768" y="6135624"/>
            <a:ext cx="2724912" cy="384048"/>
          </a:xfrm>
          <a:prstGeom prst="roundRect">
            <a:avLst/>
          </a:prstGeom>
          <a:solidFill>
            <a:srgbClr val="F4F6F8"/>
          </a:solidFill>
          <a:ln w="9525">
            <a:solidFill>
              <a:srgbClr val="D5DBE1"/>
            </a:solidFill>
          </a:ln>
          <a:effectLst/>
        </p:spPr>
        <p:txBody>
          <a:bodyPr rtlCol="0" anchor="ctr"/>
          <a:lstStyle/>
          <a:p>
            <a:pPr algn="ctr"/>
          </a:p>
        </p:txBody>
      </p:sp>
      <p:sp>
        <p:nvSpPr>
          <p:cNvPr id="177" name="Pair_Dot"/>
          <p:cNvSpPr/>
          <p:nvPr/>
        </p:nvSpPr>
        <p:spPr>
          <a:xfrm>
            <a:off x="539496" y="6263640"/>
            <a:ext cx="128016" cy="128016"/>
          </a:xfrm>
          <a:prstGeom prst="ellipse">
            <a:avLst/>
          </a:prstGeom>
          <a:solidFill>
            <a:srgbClr val="2980B9"/>
          </a:solidFill>
          <a:ln w="6350">
            <a:solidFill>
              <a:srgbClr val="2980B9"/>
            </a:solidFill>
          </a:ln>
          <a:effectLst/>
        </p:spPr>
        <p:txBody>
          <a:bodyPr rtlCol="0" anchor="ctr"/>
          <a:lstStyle/>
          <a:p>
            <a:pPr algn="ctr"/>
          </a:p>
        </p:txBody>
      </p:sp>
      <p:sp>
        <p:nvSpPr>
          <p:cNvPr id="178" name="Pair_Text"/>
          <p:cNvSpPr txBox="1"/>
          <p:nvPr/>
        </p:nvSpPr>
        <p:spPr>
          <a:xfrm>
            <a:off x="749808" y="6153912"/>
            <a:ext cx="2377440" cy="365760"/>
          </a:xfrm>
          <a:prstGeom prst="rect">
            <a:avLst/>
          </a:prstGeom>
          <a:noFill/>
        </p:spPr>
        <p:txBody>
          <a:bodyPr wrap="square" lIns="0" rIns="0" tIns="0" bIns="0" anchor="ctr">
            <a:spAutoFit/>
          </a:bodyPr>
          <a:lstStyle/>
          <a:p>
            <a:r>
              <a:rPr sz="1000" b="1" i="0">
                <a:solidFill>
                  <a:srgbClr val="1F2D3D"/>
                </a:solidFill>
                <a:latin typeface="Calibri"/>
              </a:rPr>
              <a:t>Unit reference</a:t>
            </a:r>
          </a:p>
          <a:p>
            <a:r>
              <a:rPr sz="900" b="0" i="0">
                <a:solidFill>
                  <a:srgbClr val="6B7785"/>
                </a:solidFill>
                <a:latin typeface="Calibri"/>
              </a:rPr>
              <a:t>t_unit · t_quan</a:t>
            </a:r>
          </a:p>
        </p:txBody>
      </p:sp>
      <p:sp>
        <p:nvSpPr>
          <p:cNvPr id="179" name="Pair_Chip"/>
          <p:cNvSpPr/>
          <p:nvPr/>
        </p:nvSpPr>
        <p:spPr>
          <a:xfrm>
            <a:off x="3264408" y="6135624"/>
            <a:ext cx="2724912" cy="384048"/>
          </a:xfrm>
          <a:prstGeom prst="roundRect">
            <a:avLst/>
          </a:prstGeom>
          <a:solidFill>
            <a:srgbClr val="F4F6F8"/>
          </a:solidFill>
          <a:ln w="9525">
            <a:solidFill>
              <a:srgbClr val="D5DBE1"/>
            </a:solidFill>
          </a:ln>
          <a:effectLst/>
        </p:spPr>
        <p:txBody>
          <a:bodyPr rtlCol="0" anchor="ctr"/>
          <a:lstStyle/>
          <a:p>
            <a:pPr algn="ctr"/>
          </a:p>
        </p:txBody>
      </p:sp>
      <p:sp>
        <p:nvSpPr>
          <p:cNvPr id="180" name="Pair_Dot"/>
          <p:cNvSpPr/>
          <p:nvPr/>
        </p:nvSpPr>
        <p:spPr>
          <a:xfrm>
            <a:off x="3374136" y="6263640"/>
            <a:ext cx="128016" cy="128016"/>
          </a:xfrm>
          <a:prstGeom prst="ellipse">
            <a:avLst/>
          </a:prstGeom>
          <a:solidFill>
            <a:srgbClr val="C0392B"/>
          </a:solidFill>
          <a:ln w="6350">
            <a:solidFill>
              <a:srgbClr val="C0392B"/>
            </a:solidFill>
          </a:ln>
          <a:effectLst/>
        </p:spPr>
        <p:txBody>
          <a:bodyPr rtlCol="0" anchor="ctr"/>
          <a:lstStyle/>
          <a:p>
            <a:pPr algn="ctr"/>
          </a:p>
        </p:txBody>
      </p:sp>
      <p:sp>
        <p:nvSpPr>
          <p:cNvPr id="181" name="Pair_Text"/>
          <p:cNvSpPr txBox="1"/>
          <p:nvPr/>
        </p:nvSpPr>
        <p:spPr>
          <a:xfrm>
            <a:off x="3584448" y="6153912"/>
            <a:ext cx="2377440" cy="365760"/>
          </a:xfrm>
          <a:prstGeom prst="rect">
            <a:avLst/>
          </a:prstGeom>
          <a:noFill/>
        </p:spPr>
        <p:txBody>
          <a:bodyPr wrap="square" lIns="0" rIns="0" tIns="0" bIns="0" anchor="ctr">
            <a:spAutoFit/>
          </a:bodyPr>
          <a:lstStyle/>
          <a:p>
            <a:r>
              <a:rPr sz="1000" b="1" i="0">
                <a:solidFill>
                  <a:srgbClr val="1F2D3D"/>
                </a:solidFill>
                <a:latin typeface="Calibri"/>
              </a:rPr>
              <a:t>Date generations</a:t>
            </a:r>
          </a:p>
          <a:p>
            <a:r>
              <a:rPr sz="900" b="0" i="0">
                <a:solidFill>
                  <a:srgbClr val="6B7785"/>
                </a:solidFill>
                <a:latin typeface="Calibri"/>
              </a:rPr>
              <a:t>t_dats · t_datn</a:t>
            </a:r>
          </a:p>
        </p:txBody>
      </p:sp>
      <p:sp>
        <p:nvSpPr>
          <p:cNvPr id="182" name="Pair_Chip"/>
          <p:cNvSpPr/>
          <p:nvPr/>
        </p:nvSpPr>
        <p:spPr>
          <a:xfrm>
            <a:off x="6099048" y="6135624"/>
            <a:ext cx="2724912" cy="384048"/>
          </a:xfrm>
          <a:prstGeom prst="roundRect">
            <a:avLst/>
          </a:prstGeom>
          <a:solidFill>
            <a:srgbClr val="F4F6F8"/>
          </a:solidFill>
          <a:ln w="9525">
            <a:solidFill>
              <a:srgbClr val="D5DBE1"/>
            </a:solidFill>
          </a:ln>
          <a:effectLst/>
        </p:spPr>
        <p:txBody>
          <a:bodyPr rtlCol="0" anchor="ctr"/>
          <a:lstStyle/>
          <a:p>
            <a:pPr algn="ctr"/>
          </a:p>
        </p:txBody>
      </p:sp>
      <p:sp>
        <p:nvSpPr>
          <p:cNvPr id="183" name="Pair_Dot"/>
          <p:cNvSpPr/>
          <p:nvPr/>
        </p:nvSpPr>
        <p:spPr>
          <a:xfrm>
            <a:off x="6208776" y="6263640"/>
            <a:ext cx="128016" cy="128016"/>
          </a:xfrm>
          <a:prstGeom prst="ellipse">
            <a:avLst/>
          </a:prstGeom>
          <a:solidFill>
            <a:srgbClr val="7F8C8D"/>
          </a:solidFill>
          <a:ln w="6350">
            <a:solidFill>
              <a:srgbClr val="7F8C8D"/>
            </a:solidFill>
          </a:ln>
          <a:effectLst/>
        </p:spPr>
        <p:txBody>
          <a:bodyPr rtlCol="0" anchor="ctr"/>
          <a:lstStyle/>
          <a:p>
            <a:pPr algn="ctr"/>
          </a:p>
        </p:txBody>
      </p:sp>
      <p:sp>
        <p:nvSpPr>
          <p:cNvPr id="184" name="Pair_Text"/>
          <p:cNvSpPr txBox="1"/>
          <p:nvPr/>
        </p:nvSpPr>
        <p:spPr>
          <a:xfrm>
            <a:off x="6419088" y="6153912"/>
            <a:ext cx="2377440" cy="365760"/>
          </a:xfrm>
          <a:prstGeom prst="rect">
            <a:avLst/>
          </a:prstGeom>
          <a:noFill/>
        </p:spPr>
        <p:txBody>
          <a:bodyPr wrap="square" lIns="0" rIns="0" tIns="0" bIns="0" anchor="ctr">
            <a:spAutoFit/>
          </a:bodyPr>
          <a:lstStyle/>
          <a:p>
            <a:r>
              <a:rPr sz="1000" b="1" i="0">
                <a:solidFill>
                  <a:srgbClr val="1F2D3D"/>
                </a:solidFill>
                <a:latin typeface="Calibri"/>
              </a:rPr>
              <a:t>Time generations</a:t>
            </a:r>
          </a:p>
          <a:p>
            <a:r>
              <a:rPr sz="900" b="0" i="0">
                <a:solidFill>
                  <a:srgbClr val="6B7785"/>
                </a:solidFill>
                <a:latin typeface="Calibri"/>
              </a:rPr>
              <a:t>t_tims · t_timn</a:t>
            </a:r>
          </a:p>
        </p:txBody>
      </p:sp>
      <p:sp>
        <p:nvSpPr>
          <p:cNvPr id="185" name="Pair_Chip"/>
          <p:cNvSpPr/>
          <p:nvPr/>
        </p:nvSpPr>
        <p:spPr>
          <a:xfrm>
            <a:off x="8933688" y="6135624"/>
            <a:ext cx="2724912" cy="384048"/>
          </a:xfrm>
          <a:prstGeom prst="roundRect">
            <a:avLst/>
          </a:prstGeom>
          <a:solidFill>
            <a:srgbClr val="FFF6DD"/>
          </a:solidFill>
          <a:ln w="9525">
            <a:solidFill>
              <a:srgbClr val="F2B01E"/>
            </a:solidFill>
          </a:ln>
          <a:effectLst/>
        </p:spPr>
        <p:txBody>
          <a:bodyPr rtlCol="0" anchor="ctr"/>
          <a:lstStyle/>
          <a:p>
            <a:pPr algn="ctr"/>
          </a:p>
        </p:txBody>
      </p:sp>
      <p:sp>
        <p:nvSpPr>
          <p:cNvPr id="186" name="PK_Badge"/>
          <p:cNvSpPr/>
          <p:nvPr/>
        </p:nvSpPr>
        <p:spPr>
          <a:xfrm>
            <a:off x="9025128" y="6245352"/>
            <a:ext cx="274320" cy="173736"/>
          </a:xfrm>
          <a:prstGeom prst="roundRect">
            <a:avLst/>
          </a:prstGeom>
          <a:solidFill>
            <a:srgbClr val="F2B01E"/>
          </a:solidFill>
          <a:ln w="6350">
            <a:solidFill>
              <a:srgbClr val="F2B01E"/>
            </a:solidFill>
          </a:ln>
          <a:effectLst/>
        </p:spPr>
        <p:txBody>
          <a:bodyPr rtlCol="0" anchor="ctr"/>
          <a:lstStyle/>
          <a:p>
            <a:pPr algn="ctr"/>
          </a:p>
        </p:txBody>
      </p:sp>
      <p:sp>
        <p:nvSpPr>
          <p:cNvPr id="187" name="PK_Text"/>
          <p:cNvSpPr txBox="1"/>
          <p:nvPr/>
        </p:nvSpPr>
        <p:spPr>
          <a:xfrm>
            <a:off x="9025128" y="6217920"/>
            <a:ext cx="274320" cy="219456"/>
          </a:xfrm>
          <a:prstGeom prst="rect">
            <a:avLst/>
          </a:prstGeom>
          <a:noFill/>
        </p:spPr>
        <p:txBody>
          <a:bodyPr wrap="square" lIns="0" rIns="0" tIns="0" bIns="0" anchor="ctr">
            <a:spAutoFit/>
          </a:bodyPr>
          <a:lstStyle/>
          <a:p>
            <a:pPr algn="ctr"/>
            <a:r>
              <a:rPr sz="700" b="1" i="0">
                <a:solidFill>
                  <a:srgbClr val="1F2D3D"/>
                </a:solidFill>
                <a:latin typeface="Calibri"/>
              </a:rPr>
              <a:t>PK</a:t>
            </a:r>
          </a:p>
        </p:txBody>
      </p:sp>
      <p:sp>
        <p:nvSpPr>
          <p:cNvPr id="188" name="PK_Legend"/>
          <p:cNvSpPr txBox="1"/>
          <p:nvPr/>
        </p:nvSpPr>
        <p:spPr>
          <a:xfrm>
            <a:off x="9372600" y="6153912"/>
            <a:ext cx="2286000" cy="365760"/>
          </a:xfrm>
          <a:prstGeom prst="rect">
            <a:avLst/>
          </a:prstGeom>
          <a:noFill/>
        </p:spPr>
        <p:txBody>
          <a:bodyPr wrap="square" lIns="0" rIns="0" tIns="0" bIns="0" anchor="ctr">
            <a:spAutoFit/>
          </a:bodyPr>
          <a:lstStyle/>
          <a:p>
            <a:r>
              <a:rPr sz="1000" b="1" i="0">
                <a:solidFill>
                  <a:srgbClr val="1F2D3D"/>
                </a:solidFill>
                <a:latin typeface="Calibri"/>
              </a:rPr>
              <a:t>Primary key</a:t>
            </a:r>
          </a:p>
          <a:p>
            <a:r>
              <a:rPr sz="900" b="0" i="0">
                <a:solidFill>
                  <a:srgbClr val="6B7785"/>
                </a:solidFill>
                <a:latin typeface="Calibri"/>
              </a:rPr>
              <a:t>client, rec_id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Scenarios: String Functions and Expressions</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Part 1 of 8  |  10 scenarios</a:t>
            </a:r>
          </a:p>
        </p:txBody>
      </p:sp>
      <p:graphicFrame>
        <p:nvGraphicFramePr>
          <p:cNvPr id="4" name="Scenario_Table"/>
          <p:cNvGraphicFramePr>
            <a:graphicFrameLocks noGrp="1"/>
          </p:cNvGraphicFramePr>
          <p:nvPr/>
        </p:nvGraphicFramePr>
        <p:xfrm>
          <a:off x="429768" y="777240"/>
          <a:ext cx="11338560" cy="4452612"/>
        </p:xfrm>
        <a:graphic>
          <a:graphicData uri="http://schemas.openxmlformats.org/drawingml/2006/table">
            <a:tbl>
              <a:tblPr firstRow="0" bandRow="0">
                <a:tableStyleId>{2D5ABB26-0587-4C30-8999-92F81FD0307C}</a:tableStyleId>
              </a:tblPr>
              <a:tblGrid>
                <a:gridCol w="1280160"/>
                <a:gridCol w="384048"/>
                <a:gridCol w="2148840"/>
                <a:gridCol w="3246120"/>
                <a:gridCol w="1783080"/>
                <a:gridCol w="1947672"/>
                <a:gridCol w="548640"/>
              </a:tblGrid>
              <a:tr h="431545">
                <a:tc>
                  <a:txBody>
                    <a:bodyPr wrap="square"/>
                    <a:lstStyle/>
                    <a:p>
                      <a:r>
                        <a:rPr sz="950" b="1" i="0">
                          <a:solidFill>
                            <a:srgbClr val="FFFFFF"/>
                          </a:solidFill>
                          <a:latin typeface="Calibri"/>
                        </a:rPr>
                        <a:t>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ID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Scenario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CDS feature shown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Columns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Rows must show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Source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578738">
                <a:tc rowSpan="10">
                  <a:txBody>
                    <a:bodyPr wrap="square"/>
                    <a:lstStyle/>
                    <a:p>
                      <a:r>
                        <a:rPr sz="950" b="1" i="0">
                          <a:solidFill>
                            <a:srgbClr val="FFFFFF"/>
                          </a:solidFill>
                          <a:latin typeface="Calibri"/>
                        </a:rPr>
                        <a:t>String functions and expressions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Trim blanks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ltrim( t_char30, ' ' ), rtrim( t_char30, '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t_char30, t_sstr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Leading, trailing, both, none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Trim a given character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ltrim( t_char10, '0' ), rtrim( t_char10, 'X'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t_char10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Leading zeros, trailing X</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Pad to a length</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lpad( t_char10, 12, '#' ), rpad(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t_char10, t_numc4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Shorter and longer than the length</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Upper and lower case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upper( t_char30 ), lower( t_char30 )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t_char30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Mixed case, one with umlauts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Combine text, numbers and codes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concat( a, b ), concat_with_space( a, b, 1 )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t_char30, t_numc6, t_sstr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Character, numc and sstring together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Cut out part of a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left, right, substring( t_char30, 4, 3 )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t_char30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Positions inside the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07</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Find and measure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instr( t_char30, '@' ), length( t_char30 )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t_char30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Text with and without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Replace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replace( t_char30, '-',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t_char30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Spaces, hyphens, plus sign, brackets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09</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Replace by pattern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replace_regexpr( PCRE =&gt; '\d', VALUE =&gt; t_sstr, WITH =&gt;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t_sstr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Letters, digits and symbols mixed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950" b="1" i="0">
                          <a:solidFill>
                            <a:srgbClr val="3A4A5C"/>
                          </a:solidFill>
                          <a:latin typeface="Calibri"/>
                        </a:rPr>
                        <a:t>10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string versus sstring</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Restrictions of string in CDS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t_str, t_sstr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One long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bl>
          </a:graphicData>
        </a:graphic>
      </p:graphicFrame>
      <p:sp>
        <p:nvSpPr>
          <p:cNvPr id="5" name="Source_Note"/>
          <p:cNvSpPr txBox="1"/>
          <p:nvPr/>
        </p:nvSpPr>
        <p:spPr>
          <a:xfrm>
            <a:off x="429768" y="5303011"/>
            <a:ext cx="11338560" cy="365760"/>
          </a:xfrm>
          <a:prstGeom prst="rect">
            <a:avLst/>
          </a:prstGeom>
          <a:noFill/>
        </p:spPr>
        <p:txBody>
          <a:bodyPr wrap="square" lIns="0" rIns="0" tIns="0" bIns="0" anchor="t">
            <a:spAutoFit/>
          </a:bodyPr>
          <a:lstStyle/>
          <a:p>
            <a:r>
              <a:rPr sz="900" b="0" i="1">
                <a:solidFill>
                  <a:srgbClr val="6B7785"/>
                </a:solidFill>
                <a:latin typeface="Calibri"/>
              </a:rPr>
              <a:t>Source: SAP = function and syntax found in SAP documentation or SAP's own sample. Check = not confirmed, test in ADT.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Scenarios: Arithmetic and Mathematical</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Part 2 of 8  |  9 scenarios</a:t>
            </a:r>
          </a:p>
        </p:txBody>
      </p:sp>
      <p:graphicFrame>
        <p:nvGraphicFramePr>
          <p:cNvPr id="4" name="Scenario_Table"/>
          <p:cNvGraphicFramePr>
            <a:graphicFrameLocks noGrp="1"/>
          </p:cNvGraphicFramePr>
          <p:nvPr/>
        </p:nvGraphicFramePr>
        <p:xfrm>
          <a:off x="429768" y="777240"/>
          <a:ext cx="11338560" cy="3873875"/>
        </p:xfrm>
        <a:graphic>
          <a:graphicData uri="http://schemas.openxmlformats.org/drawingml/2006/table">
            <a:tbl>
              <a:tblPr firstRow="0" bandRow="0">
                <a:tableStyleId>{2D5ABB26-0587-4C30-8999-92F81FD0307C}</a:tableStyleId>
              </a:tblPr>
              <a:tblGrid>
                <a:gridCol w="1280160"/>
                <a:gridCol w="384048"/>
                <a:gridCol w="2148840"/>
                <a:gridCol w="3246120"/>
                <a:gridCol w="1783080"/>
                <a:gridCol w="1947672"/>
                <a:gridCol w="548640"/>
              </a:tblGrid>
              <a:tr h="431545">
                <a:tc>
                  <a:txBody>
                    <a:bodyPr wrap="square"/>
                    <a:lstStyle/>
                    <a:p>
                      <a:r>
                        <a:rPr sz="950" b="1" i="0">
                          <a:solidFill>
                            <a:srgbClr val="FFFFFF"/>
                          </a:solidFill>
                          <a:latin typeface="Calibri"/>
                        </a:rPr>
                        <a:t>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ID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Scenario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CDS feature shown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Columns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Rows must show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Source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431545">
                <a:tc rowSpan="6">
                  <a:txBody>
                    <a:bodyPr wrap="square"/>
                    <a:lstStyle/>
                    <a:p>
                      <a:r>
                        <a:rPr sz="950" b="1" i="0">
                          <a:solidFill>
                            <a:srgbClr val="FFFFFF"/>
                          </a:solidFill>
                          <a:latin typeface="Calibri"/>
                        </a:rPr>
                        <a:t>Arithmetic expressions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8A5A00"/>
                    </a:solidFill>
                  </a:tcPr>
                </a:tc>
                <a:tc>
                  <a:txBody>
                    <a:bodyPr wrap="square"/>
                    <a:lstStyle/>
                    <a:p>
                      <a:r>
                        <a:rPr sz="950" b="1" i="0">
                          <a:solidFill>
                            <a:srgbClr val="3A4A5C"/>
                          </a:solidFill>
                          <a:latin typeface="Calibri"/>
                        </a:rPr>
                        <a:t>11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Integer arithmetic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t_int1, t_int2, t_int4, t_int8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Positive and negative values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8A5A00"/>
                    </a:solidFill>
                  </a:tcPr>
                </a:tc>
                <a:tc>
                  <a:txBody>
                    <a:bodyPr wrap="square"/>
                    <a:lstStyle/>
                    <a:p>
                      <a:r>
                        <a:rPr sz="950" b="1" i="0">
                          <a:solidFill>
                            <a:srgbClr val="3A4A5C"/>
                          </a:solidFill>
                          <a:latin typeface="Calibri"/>
                        </a:rPr>
                        <a:t>12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Mixed types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int and dec in one expression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t_int4, t_dec, t_dec2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Result type and precision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8A5A00"/>
                    </a:solidFill>
                  </a:tcPr>
                </a:tc>
                <a:tc>
                  <a:txBody>
                    <a:bodyPr wrap="square"/>
                    <a:lstStyle/>
                    <a:p>
                      <a:r>
                        <a:rPr sz="950" b="1" i="0">
                          <a:solidFill>
                            <a:srgbClr val="3A4A5C"/>
                          </a:solidFill>
                          <a:latin typeface="Calibri"/>
                        </a:rPr>
                        <a:t>13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Division with the / operator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t_dec, t_dec2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Results with repeating decimals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8A5A00"/>
                    </a:solidFill>
                  </a:tcPr>
                </a:tc>
                <a:tc>
                  <a:txBody>
                    <a:bodyPr wrap="square"/>
                    <a:lstStyle/>
                    <a:p>
                      <a:r>
                        <a:rPr sz="950" b="1" i="0">
                          <a:solidFill>
                            <a:srgbClr val="3A4A5C"/>
                          </a:solidFill>
                          <a:latin typeface="Calibri"/>
                        </a:rPr>
                        <a:t>14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Percentage of a value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cast( a / b * 100 as abap.dec(10,2)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t_dec, t_dec2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Percentages 0 to 100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8A5A00"/>
                    </a:solidFill>
                  </a:tcPr>
                </a:tc>
                <a:tc>
                  <a:txBody>
                    <a:bodyPr wrap="square"/>
                    <a:lstStyle/>
                    <a:p>
                      <a:r>
                        <a:rPr sz="950" b="1" i="0">
                          <a:solidFill>
                            <a:srgbClr val="3A4A5C"/>
                          </a:solidFill>
                          <a:latin typeface="Calibri"/>
                        </a:rPr>
                        <a:t>15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Amount times quantity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Arithmetic after cast to dec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t_curr, t_quan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Typical amounts and quantities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8A5A00"/>
                    </a:solidFill>
                  </a:tcPr>
                </a:tc>
                <a:tc>
                  <a:txBody>
                    <a:bodyPr wrap="square"/>
                    <a:lstStyle/>
                    <a:p>
                      <a:r>
                        <a:rPr sz="950" b="1" i="0">
                          <a:solidFill>
                            <a:srgbClr val="3A4A5C"/>
                          </a:solidFill>
                          <a:latin typeface="Calibri"/>
                        </a:rPr>
                        <a:t>16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Amount as decfloat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curr_to_decfloat_amount, get_numeric_value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t_curr, t_cuky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Amounts of different size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578738">
                <a:tc rowSpan="3">
                  <a:txBody>
                    <a:bodyPr wrap="square"/>
                    <a:lstStyle/>
                    <a:p>
                      <a:r>
                        <a:rPr sz="950" b="1" i="0">
                          <a:solidFill>
                            <a:srgbClr val="FFFFFF"/>
                          </a:solidFill>
                          <a:latin typeface="Calibri"/>
                        </a:rPr>
                        <a:t>Mathematical: float and decimal precision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5B6B2E"/>
                    </a:solidFill>
                  </a:tcPr>
                </a:tc>
                <a:tc>
                  <a:txBody>
                    <a:bodyPr wrap="square"/>
                    <a:lstStyle/>
                    <a:p>
                      <a:r>
                        <a:rPr sz="950" b="1" i="0">
                          <a:solidFill>
                            <a:srgbClr val="3A4A5C"/>
                          </a:solidFill>
                          <a:latin typeface="Calibri"/>
                        </a:rPr>
                        <a:t>17</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Float to decimal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fltp_to_dec( t_fltp as abap.dec(15,3)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t_fltp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Large and small values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5B6B2E"/>
                    </a:solidFill>
                  </a:tcPr>
                </a:tc>
                <a:tc>
                  <a:txBody>
                    <a:bodyPr wrap="square"/>
                    <a:lstStyle/>
                    <a:p>
                      <a:r>
                        <a:rPr sz="950" b="1" i="0">
                          <a:solidFill>
                            <a:srgbClr val="3A4A5C"/>
                          </a:solidFill>
                          <a:latin typeface="Calibri"/>
                        </a:rPr>
                        <a:t>18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decfloat arithmetic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decfloat16 against decfloat34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t_df16, t_df34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Values with many digits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5B6B2E"/>
                    </a:solidFill>
                  </a:tcPr>
                </a:tc>
                <a:tc>
                  <a:txBody>
                    <a:bodyPr wrap="square"/>
                    <a:lstStyle/>
                    <a:p>
                      <a:r>
                        <a:rPr sz="950" b="1" i="0">
                          <a:solidFill>
                            <a:srgbClr val="3A4A5C"/>
                          </a:solidFill>
                          <a:latin typeface="Calibri"/>
                        </a:rPr>
                        <a:t>19</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The same value in three types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Compare dec, decfloat and fltp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t_dec, t_df34, t_fltp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0.1 and 1/3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bl>
          </a:graphicData>
        </a:graphic>
      </p:graphicFrame>
      <p:sp>
        <p:nvSpPr>
          <p:cNvPr id="5" name="Source_Note"/>
          <p:cNvSpPr txBox="1"/>
          <p:nvPr/>
        </p:nvSpPr>
        <p:spPr>
          <a:xfrm>
            <a:off x="429768" y="4724272"/>
            <a:ext cx="11338560" cy="365760"/>
          </a:xfrm>
          <a:prstGeom prst="rect">
            <a:avLst/>
          </a:prstGeom>
          <a:noFill/>
        </p:spPr>
        <p:txBody>
          <a:bodyPr wrap="square" lIns="0" rIns="0" tIns="0" bIns="0" anchor="t">
            <a:spAutoFit/>
          </a:bodyPr>
          <a:lstStyle/>
          <a:p>
            <a:r>
              <a:rPr sz="900" b="0" i="1">
                <a:solidFill>
                  <a:srgbClr val="6B7785"/>
                </a:solidFill>
                <a:latin typeface="Calibri"/>
              </a:rPr>
              <a:t>Source: SAP = function and syntax found in SAP documentation or SAP's own sample. Check = not confirmed, test in ADT.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Scenarios: Numeric Functions and Conditions</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Part 3 of 8  |  9 scenarios</a:t>
            </a:r>
          </a:p>
        </p:txBody>
      </p:sp>
      <p:graphicFrame>
        <p:nvGraphicFramePr>
          <p:cNvPr id="4" name="Scenario_Table"/>
          <p:cNvGraphicFramePr>
            <a:graphicFrameLocks noGrp="1"/>
          </p:cNvGraphicFramePr>
          <p:nvPr/>
        </p:nvGraphicFramePr>
        <p:xfrm>
          <a:off x="429768" y="777240"/>
          <a:ext cx="11338560" cy="3873874"/>
        </p:xfrm>
        <a:graphic>
          <a:graphicData uri="http://schemas.openxmlformats.org/drawingml/2006/table">
            <a:tbl>
              <a:tblPr firstRow="0" bandRow="0">
                <a:tableStyleId>{2D5ABB26-0587-4C30-8999-92F81FD0307C}</a:tableStyleId>
              </a:tblPr>
              <a:tblGrid>
                <a:gridCol w="1280160"/>
                <a:gridCol w="384048"/>
                <a:gridCol w="2148840"/>
                <a:gridCol w="3246120"/>
                <a:gridCol w="1783080"/>
                <a:gridCol w="1947672"/>
                <a:gridCol w="548640"/>
              </a:tblGrid>
              <a:tr h="431545">
                <a:tc>
                  <a:txBody>
                    <a:bodyPr wrap="square"/>
                    <a:lstStyle/>
                    <a:p>
                      <a:r>
                        <a:rPr sz="950" b="1" i="0">
                          <a:solidFill>
                            <a:srgbClr val="FFFFFF"/>
                          </a:solidFill>
                          <a:latin typeface="Calibri"/>
                        </a:rPr>
                        <a:t>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ID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Scenario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CDS feature shown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Columns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Rows must show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Source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431545">
                <a:tc rowSpan="5">
                  <a:txBody>
                    <a:bodyPr wrap="square"/>
                    <a:lstStyle/>
                    <a:p>
                      <a:r>
                        <a:rPr sz="950" b="1" i="0">
                          <a:solidFill>
                            <a:srgbClr val="FFFFFF"/>
                          </a:solidFill>
                          <a:latin typeface="Calibri"/>
                        </a:rPr>
                        <a:t>Numeric functions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9C3D54"/>
                    </a:solidFill>
                  </a:tcPr>
                </a:tc>
                <a:tc>
                  <a:txBody>
                    <a:bodyPr wrap="square"/>
                    <a:lstStyle/>
                    <a:p>
                      <a:r>
                        <a:rPr sz="950" b="1" i="0">
                          <a:solidFill>
                            <a:srgbClr val="3A4A5C"/>
                          </a:solidFill>
                          <a:latin typeface="Calibri"/>
                        </a:rPr>
                        <a:t>20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Absolute value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abs( t_int4 )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t_int4, t_dec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Positive and negative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9C3D54"/>
                    </a:solidFill>
                  </a:tcPr>
                </a:tc>
                <a:tc>
                  <a:txBody>
                    <a:bodyPr wrap="square"/>
                    <a:lstStyle/>
                    <a:p>
                      <a:r>
                        <a:rPr sz="950" b="1" i="0">
                          <a:solidFill>
                            <a:srgbClr val="3A4A5C"/>
                          </a:solidFill>
                          <a:latin typeface="Calibri"/>
                        </a:rPr>
                        <a:t>21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Round up and down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ceil( t_df34 ), floor( t_df34 )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t_df34, t_dec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Values at .5, negative values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9C3D54"/>
                    </a:solidFill>
                  </a:tcPr>
                </a:tc>
                <a:tc>
                  <a:txBody>
                    <a:bodyPr wrap="square"/>
                    <a:lstStyle/>
                    <a:p>
                      <a:r>
                        <a:rPr sz="950" b="1" i="0">
                          <a:solidFill>
                            <a:srgbClr val="3A4A5C"/>
                          </a:solidFill>
                          <a:latin typeface="Calibri"/>
                        </a:rPr>
                        <a:t>22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Round to decimals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round( t_df34, 2 )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t_df34, t_dec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Halves, negative values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9C3D54"/>
                    </a:solidFill>
                  </a:tcPr>
                </a:tc>
                <a:tc>
                  <a:txBody>
                    <a:bodyPr wrap="square"/>
                    <a:lstStyle/>
                    <a:p>
                      <a:r>
                        <a:rPr sz="950" b="1" i="0">
                          <a:solidFill>
                            <a:srgbClr val="3A4A5C"/>
                          </a:solidFill>
                          <a:latin typeface="Calibri"/>
                        </a:rPr>
                        <a:t>23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Integer division and remainder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div( t_int4, t_int2 ), mod(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t_int4, t_int2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Negative values, remainder zero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9C3D54"/>
                    </a:solidFill>
                  </a:tcPr>
                </a:tc>
                <a:tc>
                  <a:txBody>
                    <a:bodyPr wrap="square"/>
                    <a:lstStyle/>
                    <a:p>
                      <a:r>
                        <a:rPr sz="950" b="1" i="0">
                          <a:solidFill>
                            <a:srgbClr val="3A4A5C"/>
                          </a:solidFill>
                          <a:latin typeface="Calibri"/>
                        </a:rPr>
                        <a:t>24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Division with decimals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division( t_dec, t_dec2, 2 )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t_dec, t_dec2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Different numbers of decimals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rowSpan="4">
                  <a:txBody>
                    <a:bodyPr wrap="square"/>
                    <a:lstStyle/>
                    <a:p>
                      <a:r>
                        <a:rPr sz="950" b="1" i="0">
                          <a:solidFill>
                            <a:srgbClr val="FFFFFF"/>
                          </a:solidFill>
                          <a:latin typeface="Calibri"/>
                        </a:rPr>
                        <a:t>Conditions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4A5568"/>
                    </a:solidFill>
                  </a:tcPr>
                </a:tc>
                <a:tc>
                  <a:txBody>
                    <a:bodyPr wrap="square"/>
                    <a:lstStyle/>
                    <a:p>
                      <a:r>
                        <a:rPr sz="950" b="1" i="0">
                          <a:solidFill>
                            <a:srgbClr val="3A4A5C"/>
                          </a:solidFill>
                          <a:latin typeface="Calibri"/>
                        </a:rPr>
                        <a:t>25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Simple CASE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case t_char1 when 'A' then ... else ... end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Every branch and the ELSE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4A5568"/>
                    </a:solidFill>
                  </a:tcPr>
                </a:tc>
                <a:tc>
                  <a:txBody>
                    <a:bodyPr wrap="square"/>
                    <a:lstStyle/>
                    <a:p>
                      <a:r>
                        <a:rPr sz="950" b="1" i="0">
                          <a:solidFill>
                            <a:srgbClr val="3A4A5C"/>
                          </a:solidFill>
                          <a:latin typeface="Calibri"/>
                        </a:rPr>
                        <a:t>26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Searched CASE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case when t_int4 &lt;= 10 then ... end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t_int4, t_dec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Every range and the ELSE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4A5568"/>
                    </a:solidFill>
                  </a:tcPr>
                </a:tc>
                <a:tc>
                  <a:txBody>
                    <a:bodyPr wrap="square"/>
                    <a:lstStyle/>
                    <a:p>
                      <a:r>
                        <a:rPr sz="950" b="1" i="0">
                          <a:solidFill>
                            <a:srgbClr val="3A4A5C"/>
                          </a:solidFill>
                          <a:latin typeface="Calibri"/>
                        </a:rPr>
                        <a:t>27</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CASE without ELSE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No ELSE returns the null value; ELSE NULL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 value that matches no branch</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4A5568"/>
                    </a:solidFill>
                  </a:tcPr>
                </a:tc>
                <a:tc>
                  <a:txBody>
                    <a:bodyPr wrap="square"/>
                    <a:lstStyle/>
                    <a:p>
                      <a:r>
                        <a:rPr sz="950" b="1" i="0">
                          <a:solidFill>
                            <a:srgbClr val="3A4A5C"/>
                          </a:solidFill>
                          <a:latin typeface="Calibri"/>
                        </a:rPr>
                        <a:t>28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Filter by pattern and range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BETWEEN, LIKE, IS INITIAL, IS NULL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t_int4, t_char30, t_dats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Common prefixes, initial values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bl>
          </a:graphicData>
        </a:graphic>
      </p:graphicFrame>
      <p:sp>
        <p:nvSpPr>
          <p:cNvPr id="5" name="Source_Note"/>
          <p:cNvSpPr txBox="1"/>
          <p:nvPr/>
        </p:nvSpPr>
        <p:spPr>
          <a:xfrm>
            <a:off x="429768" y="4724272"/>
            <a:ext cx="11338560" cy="365760"/>
          </a:xfrm>
          <a:prstGeom prst="rect">
            <a:avLst/>
          </a:prstGeom>
          <a:noFill/>
        </p:spPr>
        <p:txBody>
          <a:bodyPr wrap="square" lIns="0" rIns="0" tIns="0" bIns="0" anchor="t">
            <a:spAutoFit/>
          </a:bodyPr>
          <a:lstStyle/>
          <a:p>
            <a:r>
              <a:rPr sz="900" b="0" i="1">
                <a:solidFill>
                  <a:srgbClr val="6B7785"/>
                </a:solidFill>
                <a:latin typeface="Calibri"/>
              </a:rPr>
              <a:t>Source: SAP = function and syntax found in SAP documentation or SAP's own sample. Check = not confirmed, test in ADT.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Scenarios: Date and Time</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Part 4 of 8  |  12 scenarios</a:t>
            </a:r>
          </a:p>
        </p:txBody>
      </p:sp>
      <p:graphicFrame>
        <p:nvGraphicFramePr>
          <p:cNvPr id="4" name="Scenario_Table"/>
          <p:cNvGraphicFramePr>
            <a:graphicFrameLocks noGrp="1"/>
          </p:cNvGraphicFramePr>
          <p:nvPr/>
        </p:nvGraphicFramePr>
        <p:xfrm>
          <a:off x="429768" y="777240"/>
          <a:ext cx="11338560" cy="5021317"/>
        </p:xfrm>
        <a:graphic>
          <a:graphicData uri="http://schemas.openxmlformats.org/drawingml/2006/table">
            <a:tbl>
              <a:tblPr firstRow="0" bandRow="0">
                <a:tableStyleId>{2D5ABB26-0587-4C30-8999-92F81FD0307C}</a:tableStyleId>
              </a:tblPr>
              <a:tblGrid>
                <a:gridCol w="1280160"/>
                <a:gridCol w="384048"/>
                <a:gridCol w="2148840"/>
                <a:gridCol w="3246120"/>
                <a:gridCol w="1783080"/>
                <a:gridCol w="1947672"/>
                <a:gridCol w="548640"/>
              </a:tblGrid>
              <a:tr h="431545">
                <a:tc>
                  <a:txBody>
                    <a:bodyPr wrap="square"/>
                    <a:lstStyle/>
                    <a:p>
                      <a:r>
                        <a:rPr sz="950" b="1" i="0">
                          <a:solidFill>
                            <a:srgbClr val="FFFFFF"/>
                          </a:solidFill>
                          <a:latin typeface="Calibri"/>
                        </a:rPr>
                        <a:t>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ID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Scenario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CDS feature shown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Columns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Rows must show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Source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431545">
                <a:tc rowSpan="12">
                  <a:txBody>
                    <a:bodyPr wrap="square"/>
                    <a:lstStyle/>
                    <a:p>
                      <a:r>
                        <a:rPr sz="950" b="1" i="0">
                          <a:solidFill>
                            <a:srgbClr val="FFFFFF"/>
                          </a:solidFill>
                          <a:latin typeface="Calibri"/>
                        </a:rPr>
                        <a:t>Date and time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29</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Validity of a date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dats_is_valid( t_dats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t_dats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00010101 valid, 00000000 invalid, initial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Validity of a time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tims_is_valid( t_tims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t_tims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Valid, impossible, initial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Days between two dates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dats_days_between( t_dats, $session.system_date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t_dats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Later, earlier, same day, invalid date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Add days and months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dats_add_days( t_dats, 7, 'INITIAL' ), dats_add_months(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t_dats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31 January, leap day, year end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Days between on DATN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datn_days_between( dats_to_datn( ... ),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t_dats, t_datn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Same cases as above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Add days on DATN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datn_add_days( t_datn, 7,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t_datn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Same cases as above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Timestamp to date and time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tstmp_to_dats( t_tstmp, t_tzone, 'NULL' ), tstmp_to_tims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t_tstmp, t_tzone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Different time zones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Seconds between, add seconds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tstmp_seconds_between, tstmp_add_seconds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t_tstmp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Two moments apart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37</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UTC long: now and add seconds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utcl_current( ), utcl_add_seconds( t_utc, 60 )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t_utc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 value and the value a minute later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UTC long: seconds between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utcl_seconds_between( t_utc,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t_utc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Two moments apart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39</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Combine date and time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dats_tims_to_tstmp( t_dats, t_tims,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t_dats, t_tims, t_tzone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Same date, different zones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7030A0"/>
                    </a:solidFill>
                  </a:tcPr>
                </a:tc>
                <a:tc>
                  <a:txBody>
                    <a:bodyPr wrap="square"/>
                    <a:lstStyle/>
                    <a:p>
                      <a:r>
                        <a:rPr sz="950" b="1" i="0">
                          <a:solidFill>
                            <a:srgbClr val="3A4A5C"/>
                          </a:solidFill>
                          <a:latin typeface="Calibri"/>
                        </a:rPr>
                        <a:t>40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Posting period from a date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cast dats to char, left, cast to accp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t_dats, t_accp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Month end, year end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bl>
          </a:graphicData>
        </a:graphic>
      </p:graphicFrame>
      <p:sp>
        <p:nvSpPr>
          <p:cNvPr id="5" name="Source_Note"/>
          <p:cNvSpPr txBox="1"/>
          <p:nvPr/>
        </p:nvSpPr>
        <p:spPr>
          <a:xfrm>
            <a:off x="429768" y="5871717"/>
            <a:ext cx="11338560" cy="365760"/>
          </a:xfrm>
          <a:prstGeom prst="rect">
            <a:avLst/>
          </a:prstGeom>
          <a:noFill/>
        </p:spPr>
        <p:txBody>
          <a:bodyPr wrap="square" lIns="0" rIns="0" tIns="0" bIns="0" anchor="t">
            <a:spAutoFit/>
          </a:bodyPr>
          <a:lstStyle/>
          <a:p>
            <a:r>
              <a:rPr sz="900" b="0" i="1">
                <a:solidFill>
                  <a:srgbClr val="6B7785"/>
                </a:solidFill>
                <a:latin typeface="Calibri"/>
              </a:rPr>
              <a:t>Source: SAP = function and syntax found in SAP documentation or SAP's own sample. Check = not confirmed, test in ADT.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Scenarios: Conversion, Aggregates, Literals</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Part 5 of 8  |  7 scenarios</a:t>
            </a:r>
          </a:p>
        </p:txBody>
      </p:sp>
      <p:graphicFrame>
        <p:nvGraphicFramePr>
          <p:cNvPr id="4" name="Scenario_Table"/>
          <p:cNvGraphicFramePr>
            <a:graphicFrameLocks noGrp="1"/>
          </p:cNvGraphicFramePr>
          <p:nvPr/>
        </p:nvGraphicFramePr>
        <p:xfrm>
          <a:off x="429768" y="777240"/>
          <a:ext cx="11338560" cy="3452361"/>
        </p:xfrm>
        <a:graphic>
          <a:graphicData uri="http://schemas.openxmlformats.org/drawingml/2006/table">
            <a:tbl>
              <a:tblPr firstRow="0" bandRow="0">
                <a:tableStyleId>{2D5ABB26-0587-4C30-8999-92F81FD0307C}</a:tableStyleId>
              </a:tblPr>
              <a:tblGrid>
                <a:gridCol w="1280160"/>
                <a:gridCol w="384048"/>
                <a:gridCol w="2148840"/>
                <a:gridCol w="3246120"/>
                <a:gridCol w="1783080"/>
                <a:gridCol w="1947672"/>
                <a:gridCol w="548640"/>
              </a:tblGrid>
              <a:tr h="431545">
                <a:tc>
                  <a:txBody>
                    <a:bodyPr wrap="square"/>
                    <a:lstStyle/>
                    <a:p>
                      <a:r>
                        <a:rPr sz="950" b="1" i="0">
                          <a:solidFill>
                            <a:srgbClr val="FFFFFF"/>
                          </a:solidFill>
                          <a:latin typeface="Calibri"/>
                        </a:rPr>
                        <a:t>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ID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Scenario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CDS feature shown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Columns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Rows must show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Source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431545">
                <a:tc rowSpan="2">
                  <a:txBody>
                    <a:bodyPr wrap="square"/>
                    <a:lstStyle/>
                    <a:p>
                      <a:r>
                        <a:rPr sz="950" b="1" i="0">
                          <a:solidFill>
                            <a:srgbClr val="FFFFFF"/>
                          </a:solidFill>
                          <a:latin typeface="Calibri"/>
                        </a:rPr>
                        <a:t>Conversion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C0392B"/>
                    </a:solidFill>
                  </a:tcPr>
                </a:tc>
                <a:tc>
                  <a:txBody>
                    <a:bodyPr wrap="square"/>
                    <a:lstStyle/>
                    <a:p>
                      <a:r>
                        <a:rPr sz="950" b="1" i="0">
                          <a:solidFill>
                            <a:srgbClr val="3A4A5C"/>
                          </a:solidFill>
                          <a:latin typeface="Calibri"/>
                        </a:rPr>
                        <a:t>41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Quantity in another unit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unit_conversion( quantity =&gt;, source_unit =&gt;, target_unit =&gt;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t_quan, t_unit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g, kg and one unit of another kind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578738">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C0392B"/>
                    </a:solidFill>
                  </a:tcPr>
                </a:tc>
                <a:tc>
                  <a:txBody>
                    <a:bodyPr wrap="square"/>
                    <a:lstStyle/>
                    <a:p>
                      <a:r>
                        <a:rPr sz="950" b="1" i="0">
                          <a:solidFill>
                            <a:srgbClr val="3A4A5C"/>
                          </a:solidFill>
                          <a:latin typeface="Calibri"/>
                        </a:rPr>
                        <a:t>42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Amount in another currency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currency_conversion( amount =&gt;, source_currency =&gt;, target_currency =&gt;, exchange_rate_date =&gt;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t_curr, t_cuky, t_dats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EUR, USD, JPY; rates must exist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431545">
                <a:tc rowSpan="4">
                  <a:txBody>
                    <a:bodyPr wrap="square"/>
                    <a:lstStyle/>
                    <a:p>
                      <a:r>
                        <a:rPr sz="950" b="1" i="0">
                          <a:solidFill>
                            <a:srgbClr val="FFFFFF"/>
                          </a:solidFill>
                          <a:latin typeface="Calibri"/>
                        </a:rPr>
                        <a:t>Aggregates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B7285"/>
                    </a:solidFill>
                  </a:tcPr>
                </a:tc>
                <a:tc>
                  <a:txBody>
                    <a:bodyPr wrap="square"/>
                    <a:lstStyle/>
                    <a:p>
                      <a:r>
                        <a:rPr sz="950" b="1" i="0">
                          <a:solidFill>
                            <a:srgbClr val="3A4A5C"/>
                          </a:solidFill>
                          <a:latin typeface="Calibri"/>
                        </a:rPr>
                        <a:t>43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Totals per 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sum( t_curr ) with GROUP BY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t_char5, t_curr, t_cuky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Several rows per group, one currency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B7285"/>
                    </a:solidFill>
                  </a:tcPr>
                </a:tc>
                <a:tc>
                  <a:txBody>
                    <a:bodyPr wrap="square"/>
                    <a:lstStyle/>
                    <a:p>
                      <a:r>
                        <a:rPr sz="950" b="1" i="0">
                          <a:solidFill>
                            <a:srgbClr val="3A4A5C"/>
                          </a:solidFill>
                          <a:latin typeface="Calibri"/>
                        </a:rPr>
                        <a:t>44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Statistics per 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avg( t_dec as abap.dec(15,2) ), min, max, count(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t_char5, t_dec, t_dats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Groups of different size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B7285"/>
                    </a:solidFill>
                  </a:tcPr>
                </a:tc>
                <a:tc>
                  <a:txBody>
                    <a:bodyPr wrap="square"/>
                    <a:lstStyle/>
                    <a:p>
                      <a:r>
                        <a:rPr sz="950" b="1" i="0">
                          <a:solidFill>
                            <a:srgbClr val="3A4A5C"/>
                          </a:solidFill>
                          <a:latin typeface="Calibri"/>
                        </a:rPr>
                        <a:t>45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Distinct values and HAVING</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count( distinct t_char3 ), HAVING</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t_char5, t_char3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Repeated sub-groups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B7285"/>
                    </a:solidFill>
                  </a:tcPr>
                </a:tc>
                <a:tc>
                  <a:txBody>
                    <a:bodyPr wrap="square"/>
                    <a:lstStyle/>
                    <a:p>
                      <a:r>
                        <a:rPr sz="950" b="1" i="0">
                          <a:solidFill>
                            <a:srgbClr val="3A4A5C"/>
                          </a:solidFill>
                          <a:latin typeface="Calibri"/>
                        </a:rPr>
                        <a:t>46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Aggregate over numeric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sum( cast( t_numc4 as abap.int4 )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t_char5, t_numc4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Leading zeros, one large value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a:txBody>
                    <a:bodyPr wrap="square"/>
                    <a:lstStyle/>
                    <a:p>
                      <a:r>
                        <a:rPr sz="950" b="1" i="0">
                          <a:solidFill>
                            <a:srgbClr val="FFFFFF"/>
                          </a:solidFill>
                          <a:latin typeface="Calibri"/>
                        </a:rPr>
                        <a:t>Literals, parameters, session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4A5568"/>
                    </a:solidFill>
                  </a:tcPr>
                </a:tc>
                <a:tc>
                  <a:txBody>
                    <a:bodyPr wrap="square"/>
                    <a:lstStyle/>
                    <a:p>
                      <a:r>
                        <a:rPr sz="950" b="1" i="0">
                          <a:solidFill>
                            <a:srgbClr val="3A4A5C"/>
                          </a:solidFill>
                          <a:latin typeface="Calibri"/>
                        </a:rPr>
                        <a:t>47</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Literals, parameters, session variables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abap.int4'12345', $parameters.p, $session.system_date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none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Any row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bl>
          </a:graphicData>
        </a:graphic>
      </p:graphicFrame>
      <p:sp>
        <p:nvSpPr>
          <p:cNvPr id="5" name="Source_Note"/>
          <p:cNvSpPr txBox="1"/>
          <p:nvPr/>
        </p:nvSpPr>
        <p:spPr>
          <a:xfrm>
            <a:off x="429768" y="4302759"/>
            <a:ext cx="11338560" cy="365760"/>
          </a:xfrm>
          <a:prstGeom prst="rect">
            <a:avLst/>
          </a:prstGeom>
          <a:noFill/>
        </p:spPr>
        <p:txBody>
          <a:bodyPr wrap="square" lIns="0" rIns="0" tIns="0" bIns="0" anchor="t">
            <a:spAutoFit/>
          </a:bodyPr>
          <a:lstStyle/>
          <a:p>
            <a:r>
              <a:rPr sz="900" b="0" i="1">
                <a:solidFill>
                  <a:srgbClr val="6B7785"/>
                </a:solidFill>
                <a:latin typeface="Calibri"/>
              </a:rPr>
              <a:t>Source: SAP = function and syntax found in SAP documentation or SAP's own sample. Check = not confirmed, test in ADT.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Scenarios: Casting (1 of 2)</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Part 6 of 8  |  11 scenarios</a:t>
            </a:r>
          </a:p>
        </p:txBody>
      </p:sp>
      <p:graphicFrame>
        <p:nvGraphicFramePr>
          <p:cNvPr id="4" name="Scenario_Table"/>
          <p:cNvGraphicFramePr>
            <a:graphicFrameLocks noGrp="1"/>
          </p:cNvGraphicFramePr>
          <p:nvPr/>
        </p:nvGraphicFramePr>
        <p:xfrm>
          <a:off x="429768" y="777240"/>
          <a:ext cx="11338560" cy="4884157"/>
        </p:xfrm>
        <a:graphic>
          <a:graphicData uri="http://schemas.openxmlformats.org/drawingml/2006/table">
            <a:tbl>
              <a:tblPr firstRow="0" bandRow="0">
                <a:tableStyleId>{2D5ABB26-0587-4C30-8999-92F81FD0307C}</a:tableStyleId>
              </a:tblPr>
              <a:tblGrid>
                <a:gridCol w="1280160"/>
                <a:gridCol w="384048"/>
                <a:gridCol w="2148840"/>
                <a:gridCol w="3246120"/>
                <a:gridCol w="1783080"/>
                <a:gridCol w="1947672"/>
                <a:gridCol w="548640"/>
              </a:tblGrid>
              <a:tr h="431545">
                <a:tc>
                  <a:txBody>
                    <a:bodyPr wrap="square"/>
                    <a:lstStyle/>
                    <a:p>
                      <a:r>
                        <a:rPr sz="950" b="1" i="0">
                          <a:solidFill>
                            <a:srgbClr val="FFFFFF"/>
                          </a:solidFill>
                          <a:latin typeface="Calibri"/>
                        </a:rPr>
                        <a:t>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ID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Scenario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CDS feature shown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Columns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Rows must show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Source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578738">
                <a:tc rowSpan="11">
                  <a:txBody>
                    <a:bodyPr wrap="square"/>
                    <a:lstStyle/>
                    <a:p>
                      <a:r>
                        <a:rPr sz="950" b="1" i="0">
                          <a:solidFill>
                            <a:srgbClr val="FFFFFF"/>
                          </a:solidFill>
                          <a:latin typeface="Calibri"/>
                        </a:rPr>
                        <a:t>Casting: one of each matrix code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48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Integer to a larger integer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[x] cast int to int8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t_int4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Negative, zero, large value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49</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Decimal to decimal and float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[x] cast dec to dec, fltp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t_dec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Many decimals, negative values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Numeric text to a number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[x] cast numc to dec, fltp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t_numc14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14-digit timestamp, all zeros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Text to shorter text and sstring</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[x] cast char to char, sstring</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t_char30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Text longer than the target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Text to date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[y] cast char to dats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Valid, impossible, blank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Text to time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[y] cast char to tims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Valid, impossible, blank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Text to numeric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[y] cast char to numc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t_char10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Digits, digits with blanks, letters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Text to language, unit, currency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[y] cast char to lang, unit, cuky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t_char1, t_char3, t_char5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E, KG, EUR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Numbers to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[y] cast int, dec to char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t_int4, t_dec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Negative, zero, many decimals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57</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Numeric text to integers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[y] cast numc to int, int8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t_numc10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Leading zeros, one large value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Date and time to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[y] cast dats, tims to char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t_dats, t_tims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Normal and initial values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bl>
          </a:graphicData>
        </a:graphic>
      </p:graphicFrame>
      <p:sp>
        <p:nvSpPr>
          <p:cNvPr id="5" name="Source_Note"/>
          <p:cNvSpPr txBox="1"/>
          <p:nvPr/>
        </p:nvSpPr>
        <p:spPr>
          <a:xfrm>
            <a:off x="429768" y="5734557"/>
            <a:ext cx="11338560" cy="365760"/>
          </a:xfrm>
          <a:prstGeom prst="rect">
            <a:avLst/>
          </a:prstGeom>
          <a:noFill/>
        </p:spPr>
        <p:txBody>
          <a:bodyPr wrap="square" lIns="0" rIns="0" tIns="0" bIns="0" anchor="t">
            <a:spAutoFit/>
          </a:bodyPr>
          <a:lstStyle/>
          <a:p>
            <a:r>
              <a:rPr sz="900" b="0" i="1">
                <a:solidFill>
                  <a:srgbClr val="6B7785"/>
                </a:solidFill>
                <a:latin typeface="Calibri"/>
              </a:rPr>
              <a:t>Source: SAP = function and syntax found in SAP documentation or SAP's own sample. Check = not confirmed, test in ADT.  x, y, z, d, p and - are the cell codes of the cast matrix in the ABAP keyword documentation (7.51). The page I could read does not explain them, so check the legend there.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Scenarios: Casting (2 of 2)</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Part 7 of 8  |  9 scenarios</a:t>
            </a:r>
          </a:p>
        </p:txBody>
      </p:sp>
      <p:graphicFrame>
        <p:nvGraphicFramePr>
          <p:cNvPr id="4" name="Scenario_Table"/>
          <p:cNvGraphicFramePr>
            <a:graphicFrameLocks noGrp="1"/>
          </p:cNvGraphicFramePr>
          <p:nvPr/>
        </p:nvGraphicFramePr>
        <p:xfrm>
          <a:off x="429768" y="777240"/>
          <a:ext cx="11338560" cy="3873875"/>
        </p:xfrm>
        <a:graphic>
          <a:graphicData uri="http://schemas.openxmlformats.org/drawingml/2006/table">
            <a:tbl>
              <a:tblPr firstRow="0" bandRow="0">
                <a:tableStyleId>{2D5ABB26-0587-4C30-8999-92F81FD0307C}</a:tableStyleId>
              </a:tblPr>
              <a:tblGrid>
                <a:gridCol w="1280160"/>
                <a:gridCol w="384048"/>
                <a:gridCol w="2148840"/>
                <a:gridCol w="3246120"/>
                <a:gridCol w="1783080"/>
                <a:gridCol w="1947672"/>
                <a:gridCol w="548640"/>
              </a:tblGrid>
              <a:tr h="431545">
                <a:tc>
                  <a:txBody>
                    <a:bodyPr wrap="square"/>
                    <a:lstStyle/>
                    <a:p>
                      <a:r>
                        <a:rPr sz="950" b="1" i="0">
                          <a:solidFill>
                            <a:srgbClr val="FFFFFF"/>
                          </a:solidFill>
                          <a:latin typeface="Calibri"/>
                        </a:rPr>
                        <a:t>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ID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Scenario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CDS feature shown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Columns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Rows must show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Source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578738">
                <a:tc rowSpan="9">
                  <a:txBody>
                    <a:bodyPr wrap="square"/>
                    <a:lstStyle/>
                    <a:p>
                      <a:r>
                        <a:rPr sz="950" b="1" i="0">
                          <a:solidFill>
                            <a:srgbClr val="FFFFFF"/>
                          </a:solidFill>
                          <a:latin typeface="Calibri"/>
                        </a:rPr>
                        <a:t>Casting: one of each matrix code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59</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Numeric text to date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[z] cast numc to dats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t_numc8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Valid, 00000000, impossible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60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Numeric text to time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[z] cast numc to tims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t_numc6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Valid, 000000, impossible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61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Numeric text to shorter numeric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[z] cast numc to numc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t_numc10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Value longer than the target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62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Posting period to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[z] cast accp to char, numc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t_accp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202610, initial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63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Language, unit, currency to text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[d] cast lang, unit, cuky to char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t_lang, t_unit, t_cuky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E, KG, EUR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64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Text to posting period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[p] cast char to accp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202610, 000000, invalid month</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65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Numeric text to posting period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[p] cast numc to accp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t_numc6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202610, 000000, invalid month</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66</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Same type to same type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[p] cast raw to raw, lang to lang</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t_raw, t_lang</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Any value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F6FB2"/>
                    </a:solidFill>
                  </a:tcPr>
                </a:tc>
                <a:tc>
                  <a:txBody>
                    <a:bodyPr wrap="square"/>
                    <a:lstStyle/>
                    <a:p>
                      <a:r>
                        <a:rPr sz="950" b="1" i="0">
                          <a:solidFill>
                            <a:srgbClr val="3A4A5C"/>
                          </a:solidFill>
                          <a:latin typeface="Calibri"/>
                        </a:rPr>
                        <a:t>67</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Combinations marked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cast char to dec, int to numc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t_char10, t_int4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Syntax error shown in ADT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bl>
          </a:graphicData>
        </a:graphic>
      </p:graphicFrame>
      <p:sp>
        <p:nvSpPr>
          <p:cNvPr id="5" name="Source_Note"/>
          <p:cNvSpPr txBox="1"/>
          <p:nvPr/>
        </p:nvSpPr>
        <p:spPr>
          <a:xfrm>
            <a:off x="429768" y="4724272"/>
            <a:ext cx="11338560" cy="365760"/>
          </a:xfrm>
          <a:prstGeom prst="rect">
            <a:avLst/>
          </a:prstGeom>
          <a:noFill/>
        </p:spPr>
        <p:txBody>
          <a:bodyPr wrap="square" lIns="0" rIns="0" tIns="0" bIns="0" anchor="t">
            <a:spAutoFit/>
          </a:bodyPr>
          <a:lstStyle/>
          <a:p>
            <a:r>
              <a:rPr sz="900" b="0" i="1">
                <a:solidFill>
                  <a:srgbClr val="6B7785"/>
                </a:solidFill>
                <a:latin typeface="Calibri"/>
              </a:rPr>
              <a:t>Source: SAP = function and syntax found in SAP documentation or SAP's own sample. Check = not confirmed, test in ADT.  x, y, z, d, p and - are the cell codes of the cast matrix in the ABAP keyword documentation (7.51). The page I could read does not explain them, so check the legend there.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Scenarios: Set Operations and Relations</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Part 8 of 8  |  7 scenarios</a:t>
            </a:r>
          </a:p>
        </p:txBody>
      </p:sp>
      <p:graphicFrame>
        <p:nvGraphicFramePr>
          <p:cNvPr id="4" name="Scenario_Table"/>
          <p:cNvGraphicFramePr>
            <a:graphicFrameLocks noGrp="1"/>
          </p:cNvGraphicFramePr>
          <p:nvPr/>
        </p:nvGraphicFramePr>
        <p:xfrm>
          <a:off x="429768" y="777240"/>
          <a:ext cx="11338560" cy="3157976"/>
        </p:xfrm>
        <a:graphic>
          <a:graphicData uri="http://schemas.openxmlformats.org/drawingml/2006/table">
            <a:tbl>
              <a:tblPr firstRow="0" bandRow="0">
                <a:tableStyleId>{2D5ABB26-0587-4C30-8999-92F81FD0307C}</a:tableStyleId>
              </a:tblPr>
              <a:tblGrid>
                <a:gridCol w="1280160"/>
                <a:gridCol w="384048"/>
                <a:gridCol w="2148840"/>
                <a:gridCol w="3246120"/>
                <a:gridCol w="1783080"/>
                <a:gridCol w="1947672"/>
                <a:gridCol w="548640"/>
              </a:tblGrid>
              <a:tr h="431545">
                <a:tc>
                  <a:txBody>
                    <a:bodyPr wrap="square"/>
                    <a:lstStyle/>
                    <a:p>
                      <a:r>
                        <a:rPr sz="950" b="1" i="0">
                          <a:solidFill>
                            <a:srgbClr val="FFFFFF"/>
                          </a:solidFill>
                          <a:latin typeface="Calibri"/>
                        </a:rPr>
                        <a:t>Group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ID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Scenario</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CDS feature shown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Columns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Rows must show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950" b="1" i="0">
                          <a:solidFill>
                            <a:srgbClr val="FFFFFF"/>
                          </a:solidFill>
                          <a:latin typeface="Calibri"/>
                        </a:rPr>
                        <a:t>Source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431545">
                <a:tc rowSpan="7">
                  <a:txBody>
                    <a:bodyPr wrap="square"/>
                    <a:lstStyle/>
                    <a:p>
                      <a:r>
                        <a:rPr sz="950" b="1" i="0">
                          <a:solidFill>
                            <a:srgbClr val="FFFFFF"/>
                          </a:solidFill>
                          <a:latin typeface="Calibri"/>
                        </a:rPr>
                        <a:t>Set operations and relations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B4F72"/>
                    </a:solidFill>
                  </a:tcPr>
                </a:tc>
                <a:tc>
                  <a:txBody>
                    <a:bodyPr wrap="square"/>
                    <a:lstStyle/>
                    <a:p>
                      <a:r>
                        <a:rPr sz="950" b="1" i="0">
                          <a:solidFill>
                            <a:srgbClr val="3A4A5C"/>
                          </a:solidFill>
                          <a:latin typeface="Calibri"/>
                        </a:rPr>
                        <a:t>68</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UNION ALL of two selections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UNION ALL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t_char5, t_char1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Rows that match both selections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9A5B00"/>
                          </a:solidFill>
                          <a:latin typeface="Calibri"/>
                        </a:rPr>
                        <a:t>Check</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DE7C8"/>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B4F72"/>
                    </a:solidFill>
                  </a:tcPr>
                </a:tc>
                <a:tc>
                  <a:txBody>
                    <a:bodyPr wrap="square"/>
                    <a:lstStyle/>
                    <a:p>
                      <a:r>
                        <a:rPr sz="950" b="1" i="0">
                          <a:solidFill>
                            <a:srgbClr val="3A4A5C"/>
                          </a:solidFill>
                          <a:latin typeface="Calibri"/>
                        </a:rPr>
                        <a:t>69</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UNION of two selections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UNION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t_char5, t_char1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Same rows, duplicates removed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B4F72"/>
                    </a:solidFill>
                  </a:tcPr>
                </a:tc>
                <a:tc>
                  <a:txBody>
                    <a:bodyPr wrap="square"/>
                    <a:lstStyle/>
                    <a:p>
                      <a:r>
                        <a:rPr sz="950" b="1" i="0">
                          <a:solidFill>
                            <a:srgbClr val="3A4A5C"/>
                          </a:solidFill>
                          <a:latin typeface="Calibri"/>
                        </a:rPr>
                        <a:t>70</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Inner self join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INNER JOIN of the table with itself</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rec_id, t_char3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Rows paired by the same code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B4F72"/>
                    </a:solidFill>
                  </a:tcPr>
                </a:tc>
                <a:tc>
                  <a:txBody>
                    <a:bodyPr wrap="square"/>
                    <a:lstStyle/>
                    <a:p>
                      <a:r>
                        <a:rPr sz="950" b="1" i="0">
                          <a:solidFill>
                            <a:srgbClr val="3A4A5C"/>
                          </a:solidFill>
                          <a:latin typeface="Calibri"/>
                        </a:rPr>
                        <a:t>71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Left outer self join with coalesce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LEFT OUTER JOIN, coalesce( ..., 'N'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rec_id, t_int4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Rows with and without a match</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B4F72"/>
                    </a:solidFill>
                  </a:tcPr>
                </a:tc>
                <a:tc>
                  <a:txBody>
                    <a:bodyPr wrap="square"/>
                    <a:lstStyle/>
                    <a:p>
                      <a:r>
                        <a:rPr sz="950" b="1" i="0">
                          <a:solidFill>
                            <a:srgbClr val="3A4A5C"/>
                          </a:solidFill>
                          <a:latin typeface="Calibri"/>
                        </a:rPr>
                        <a:t>72</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Right outer and cross join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RIGHT OUTER JOIN, CROSS JOIN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rec_id, t_char3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Small sets of rows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31545">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B4F72"/>
                    </a:solidFill>
                  </a:tcPr>
                </a:tc>
                <a:tc>
                  <a:txBody>
                    <a:bodyPr wrap="square"/>
                    <a:lstStyle/>
                    <a:p>
                      <a:r>
                        <a:rPr sz="950" b="1" i="0">
                          <a:solidFill>
                            <a:srgbClr val="3A4A5C"/>
                          </a:solidFill>
                          <a:latin typeface="Calibri"/>
                        </a:rPr>
                        <a:t>73</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Association to the table itself</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association [0..1] to ... as _ref</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rec_id, t_int4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0" i="0">
                          <a:solidFill>
                            <a:srgbClr val="3A4A5C"/>
                          </a:solidFill>
                          <a:latin typeface="Calibri"/>
                        </a:rPr>
                        <a:t>Rows that point to an existing row</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284353">
                <a:tc vMerge="1">
                  <a:txBody>
                    <a:bodyPr wrap="square"/>
                    <a:lstStyle/>
                    <a:p>
                      <a:r>
                        <a:rPr sz="950" b="1" i="0">
                          <a:solidFill>
                            <a:srgbClr val="FFFFFF"/>
                          </a:solidFill>
                          <a:latin typeface="Calibri"/>
                        </a:rPr>
                        <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B4F72"/>
                    </a:solidFill>
                  </a:tcPr>
                </a:tc>
                <a:tc>
                  <a:txBody>
                    <a:bodyPr wrap="square"/>
                    <a:lstStyle/>
                    <a:p>
                      <a:r>
                        <a:rPr sz="950" b="1" i="0">
                          <a:solidFill>
                            <a:srgbClr val="3A4A5C"/>
                          </a:solidFill>
                          <a:latin typeface="Calibri"/>
                        </a:rPr>
                        <a:t>74</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Rows of one group only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Input parameter, $parameters.p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t_char5</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0" i="0">
                          <a:solidFill>
                            <a:srgbClr val="3A4A5C"/>
                          </a:solidFill>
                          <a:latin typeface="Calibri"/>
                        </a:rPr>
                        <a:t>At least three groups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950" b="1" i="0">
                          <a:solidFill>
                            <a:srgbClr val="1E7B3A"/>
                          </a:solidFill>
                          <a:latin typeface="Calibri"/>
                        </a:rPr>
                        <a:t>SAP</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bl>
          </a:graphicData>
        </a:graphic>
      </p:graphicFrame>
      <p:sp>
        <p:nvSpPr>
          <p:cNvPr id="5" name="Source_Note"/>
          <p:cNvSpPr txBox="1"/>
          <p:nvPr/>
        </p:nvSpPr>
        <p:spPr>
          <a:xfrm>
            <a:off x="429768" y="4008373"/>
            <a:ext cx="11338560" cy="365760"/>
          </a:xfrm>
          <a:prstGeom prst="rect">
            <a:avLst/>
          </a:prstGeom>
          <a:noFill/>
        </p:spPr>
        <p:txBody>
          <a:bodyPr wrap="square" lIns="0" rIns="0" tIns="0" bIns="0" anchor="t">
            <a:spAutoFit/>
          </a:bodyPr>
          <a:lstStyle/>
          <a:p>
            <a:r>
              <a:rPr sz="900" b="0" i="1">
                <a:solidFill>
                  <a:srgbClr val="6B7785"/>
                </a:solidFill>
                <a:latin typeface="Calibri"/>
              </a:rPr>
              <a:t>Source: SAP = function and syntax found in SAP documentation or SAP's own sample. Check = not confirmed, test in ADT.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Capstone – What Stays on the Existing Capstone Tables</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Joins, associations, order totals</a:t>
            </a:r>
          </a:p>
        </p:txBody>
      </p:sp>
      <p:graphicFrame>
        <p:nvGraphicFramePr>
          <p:cNvPr id="4" name="Existing_Table"/>
          <p:cNvGraphicFramePr>
            <a:graphicFrameLocks noGrp="1"/>
          </p:cNvGraphicFramePr>
          <p:nvPr/>
        </p:nvGraphicFramePr>
        <p:xfrm>
          <a:off x="429768" y="822960"/>
          <a:ext cx="11338560" cy="3800856"/>
        </p:xfrm>
        <a:graphic>
          <a:graphicData uri="http://schemas.openxmlformats.org/drawingml/2006/table">
            <a:tbl>
              <a:tblPr firstRow="0" bandRow="0">
                <a:tableStyleId>{2D5ABB26-0587-4C30-8999-92F81FD0307C}</a:tableStyleId>
              </a:tblPr>
              <a:tblGrid>
                <a:gridCol w="2743200"/>
                <a:gridCol w="4206240"/>
                <a:gridCol w="4389120"/>
              </a:tblGrid>
              <a:tr h="411480">
                <a:tc>
                  <a:txBody>
                    <a:bodyPr wrap="square"/>
                    <a:lstStyle/>
                    <a:p>
                      <a:r>
                        <a:rPr sz="1200" b="1" i="0">
                          <a:solidFill>
                            <a:srgbClr val="FFFFFF"/>
                          </a:solidFill>
                          <a:latin typeface="Calibri"/>
                        </a:rPr>
                        <a:t>Topic</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1200" b="1" i="0">
                          <a:solidFill>
                            <a:srgbClr val="FFFFFF"/>
                          </a:solidFill>
                          <a:latin typeface="Calibri"/>
                        </a:rPr>
                        <a:t>Existing capstone tables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1200" b="1" i="0">
                          <a:solidFill>
                            <a:srgbClr val="FFFFFF"/>
                          </a:solidFill>
                          <a:latin typeface="Calibri"/>
                        </a:rPr>
                        <a:t>Example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411480">
                <a:tc>
                  <a:txBody>
                    <a:bodyPr wrap="square"/>
                    <a:lstStyle/>
                    <a:p>
                      <a:r>
                        <a:rPr sz="1200" b="1" i="0">
                          <a:solidFill>
                            <a:srgbClr val="FFFFFF"/>
                          </a:solidFill>
                          <a:latin typeface="Calibri"/>
                        </a:rPr>
                        <a:t>Inner join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200" b="0" i="0">
                          <a:solidFill>
                            <a:srgbClr val="3A4A5C"/>
                          </a:solidFill>
                          <a:latin typeface="Calibri"/>
                        </a:rPr>
                        <a:t>Sales Order Header, Customer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1200" b="0" i="0">
                          <a:solidFill>
                            <a:srgbClr val="3A4A5C"/>
                          </a:solidFill>
                          <a:latin typeface="Calibri"/>
                        </a:rPr>
                        <a:t>Orders with the customer name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11480">
                <a:tc>
                  <a:txBody>
                    <a:bodyPr wrap="square"/>
                    <a:lstStyle/>
                    <a:p>
                      <a:r>
                        <a:rPr sz="1200" b="1" i="0">
                          <a:solidFill>
                            <a:srgbClr val="FFFFFF"/>
                          </a:solidFill>
                          <a:latin typeface="Calibri"/>
                        </a:rPr>
                        <a:t>Left outer join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200" b="0" i="0">
                          <a:solidFill>
                            <a:srgbClr val="3A4A5C"/>
                          </a:solidFill>
                          <a:latin typeface="Calibri"/>
                        </a:rPr>
                        <a:t>Customer, Sales Order Header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1200" b="0" i="0">
                          <a:solidFill>
                            <a:srgbClr val="3A4A5C"/>
                          </a:solidFill>
                          <a:latin typeface="Calibri"/>
                        </a:rPr>
                        <a:t>Customers without orders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11480">
                <a:tc>
                  <a:txBody>
                    <a:bodyPr wrap="square"/>
                    <a:lstStyle/>
                    <a:p>
                      <a:r>
                        <a:rPr sz="1200" b="1" i="0">
                          <a:solidFill>
                            <a:srgbClr val="FFFFFF"/>
                          </a:solidFill>
                          <a:latin typeface="Calibri"/>
                        </a:rPr>
                        <a:t>Right outer join, cross join</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200" b="0" i="0">
                          <a:solidFill>
                            <a:srgbClr val="3A4A5C"/>
                          </a:solidFill>
                          <a:latin typeface="Calibri"/>
                        </a:rPr>
                        <a:t>Product, Customer, Sales Order Item</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1200" b="0" i="0">
                          <a:solidFill>
                            <a:srgbClr val="3A4A5C"/>
                          </a:solidFill>
                          <a:latin typeface="Calibri"/>
                        </a:rPr>
                        <a:t>Any two small sets of rows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509016">
                <a:tc>
                  <a:txBody>
                    <a:bodyPr wrap="square"/>
                    <a:lstStyle/>
                    <a:p>
                      <a:r>
                        <a:rPr sz="1200" b="1" i="0">
                          <a:solidFill>
                            <a:srgbClr val="FFFFFF"/>
                          </a:solidFill>
                          <a:latin typeface="Calibri"/>
                        </a:rPr>
                        <a:t>Associations and path expressions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200" b="0" i="0">
                          <a:solidFill>
                            <a:srgbClr val="3A4A5C"/>
                          </a:solidFill>
                          <a:latin typeface="Calibri"/>
                        </a:rPr>
                        <a:t>Header, Customer, Item, Product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1200" b="0" i="0">
                          <a:solidFill>
                            <a:srgbClr val="3A4A5C"/>
                          </a:solidFill>
                          <a:latin typeface="Calibri"/>
                        </a:rPr>
                        <a:t>Buyer name on an order, product on an item</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11480">
                <a:tc>
                  <a:txBody>
                    <a:bodyPr wrap="square"/>
                    <a:lstStyle/>
                    <a:p>
                      <a:r>
                        <a:rPr sz="1200" b="1" i="0">
                          <a:solidFill>
                            <a:srgbClr val="FFFFFF"/>
                          </a:solidFill>
                          <a:latin typeface="Calibri"/>
                        </a:rPr>
                        <a:t>Composition and to-parent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200" b="0" i="0">
                          <a:solidFill>
                            <a:srgbClr val="3A4A5C"/>
                          </a:solidFill>
                          <a:latin typeface="Calibri"/>
                        </a:rPr>
                        <a:t>Sales Order Header, Sales Order Item</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1200" b="0" i="0">
                          <a:solidFill>
                            <a:srgbClr val="3A4A5C"/>
                          </a:solidFill>
                          <a:latin typeface="Calibri"/>
                        </a:rPr>
                        <a:t>Already modelled in the capstone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11480">
                <a:tc>
                  <a:txBody>
                    <a:bodyPr wrap="square"/>
                    <a:lstStyle/>
                    <a:p>
                      <a:r>
                        <a:rPr sz="1200" b="1" i="0">
                          <a:solidFill>
                            <a:srgbClr val="FFFFFF"/>
                          </a:solidFill>
                          <a:latin typeface="Calibri"/>
                        </a:rPr>
                        <a:t>Aggregates over items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200" b="0" i="0">
                          <a:solidFill>
                            <a:srgbClr val="3A4A5C"/>
                          </a:solidFill>
                          <a:latin typeface="Calibri"/>
                        </a:rPr>
                        <a:t>Sales Order Item</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1200" b="0" i="0">
                          <a:solidFill>
                            <a:srgbClr val="3A4A5C"/>
                          </a:solidFill>
                          <a:latin typeface="Calibri"/>
                        </a:rPr>
                        <a:t>Order total, count of items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411480">
                <a:tc>
                  <a:txBody>
                    <a:bodyPr wrap="square"/>
                    <a:lstStyle/>
                    <a:p>
                      <a:r>
                        <a:rPr sz="1200" b="1" i="0">
                          <a:solidFill>
                            <a:srgbClr val="FFFFFF"/>
                          </a:solidFill>
                          <a:latin typeface="Calibri"/>
                        </a:rPr>
                        <a:t>Value help, access control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200" b="0" i="0">
                          <a:solidFill>
                            <a:srgbClr val="3A4A5C"/>
                          </a:solidFill>
                          <a:latin typeface="Calibri"/>
                        </a:rPr>
                        <a:t>Customer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1200" b="0" i="0">
                          <a:solidFill>
                            <a:srgbClr val="3A4A5C"/>
                          </a:solidFill>
                          <a:latin typeface="Calibri"/>
                        </a:rPr>
                        <a:t>Value help for the buyer; restrict by country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411480">
                <a:tc>
                  <a:txBody>
                    <a:bodyPr wrap="square"/>
                    <a:lstStyle/>
                    <a:p>
                      <a:r>
                        <a:rPr sz="1200" b="1" i="0">
                          <a:solidFill>
                            <a:srgbClr val="FFFFFF"/>
                          </a:solidFill>
                          <a:latin typeface="Calibri"/>
                        </a:rPr>
                        <a:t>UNION and UNION ALL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200" b="0" i="0">
                          <a:solidFill>
                            <a:srgbClr val="3A4A5C"/>
                          </a:solidFill>
                          <a:latin typeface="Calibri"/>
                        </a:rPr>
                        <a:t>Data type table (with itself)</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1200" b="0" i="0">
                          <a:solidFill>
                            <a:srgbClr val="3A4A5C"/>
                          </a:solidFill>
                          <a:latin typeface="Calibri"/>
                        </a:rPr>
                        <a:t>The two union scenarios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bl>
          </a:graphicData>
        </a:graphic>
      </p:graphicFrame>
      <p:sp>
        <p:nvSpPr>
          <p:cNvPr id="5" name="Warn_Box"/>
          <p:cNvSpPr/>
          <p:nvPr/>
        </p:nvSpPr>
        <p:spPr>
          <a:xfrm>
            <a:off x="429768" y="4898136"/>
            <a:ext cx="11338560" cy="640080"/>
          </a:xfrm>
          <a:prstGeom prst="rect">
            <a:avLst/>
          </a:prstGeom>
          <a:solidFill>
            <a:srgbClr val="FDECEA"/>
          </a:solidFill>
          <a:ln w="12700">
            <a:solidFill>
              <a:srgbClr val="F85149"/>
            </a:solidFill>
          </a:ln>
          <a:effectLst/>
        </p:spPr>
        <p:txBody>
          <a:bodyPr rtlCol="0" anchor="ctr"/>
          <a:lstStyle/>
          <a:p>
            <a:pPr algn="ctr"/>
          </a:p>
        </p:txBody>
      </p:sp>
      <p:sp>
        <p:nvSpPr>
          <p:cNvPr id="6" name="Warn_Text"/>
          <p:cNvSpPr txBox="1"/>
          <p:nvPr/>
        </p:nvSpPr>
        <p:spPr>
          <a:xfrm>
            <a:off x="612647" y="4934712"/>
            <a:ext cx="10972800" cy="566928"/>
          </a:xfrm>
          <a:prstGeom prst="rect">
            <a:avLst/>
          </a:prstGeom>
          <a:noFill/>
        </p:spPr>
        <p:txBody>
          <a:bodyPr wrap="square" lIns="0" rIns="0" tIns="0" bIns="0" anchor="ctr">
            <a:spAutoFit/>
          </a:bodyPr>
          <a:lstStyle/>
          <a:p>
            <a:r>
              <a:rPr sz="1200" b="1" i="0">
                <a:solidFill>
                  <a:srgbClr val="F85149"/>
                </a:solidFill>
                <a:latin typeface="Calibri"/>
              </a:rPr>
              <a:t>⚠  Check the data: </a:t>
            </a:r>
            <a:r>
              <a:rPr sz="1200" b="0" i="0">
                <a:solidFill>
                  <a:srgbClr val="3A4A5C"/>
                </a:solidFill>
                <a:latin typeface="Calibri"/>
              </a:rPr>
              <a:t>left outer join needs at least one customer without an order, and the aggregates need orders with several items. If the capstone data does not have them, add rows. The data type table has no parent column, so its self joins use rec_id against t_int4.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 What Was Validated Against SAP Sources</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Validation  |  checked 11 Oct 2026</a:t>
            </a:r>
          </a:p>
        </p:txBody>
      </p:sp>
      <p:graphicFrame>
        <p:nvGraphicFramePr>
          <p:cNvPr id="4" name="Validation_Table"/>
          <p:cNvGraphicFramePr>
            <a:graphicFrameLocks noGrp="1"/>
          </p:cNvGraphicFramePr>
          <p:nvPr/>
        </p:nvGraphicFramePr>
        <p:xfrm>
          <a:off x="429768" y="822960"/>
          <a:ext cx="11338560" cy="3765042"/>
        </p:xfrm>
        <a:graphic>
          <a:graphicData uri="http://schemas.openxmlformats.org/drawingml/2006/table">
            <a:tbl>
              <a:tblPr firstRow="0" bandRow="0">
                <a:tableStyleId>{2D5ABB26-0587-4C30-8999-92F81FD0307C}</a:tableStyleId>
              </a:tblPr>
              <a:tblGrid>
                <a:gridCol w="2926080"/>
                <a:gridCol w="4846320"/>
                <a:gridCol w="3566160"/>
              </a:tblGrid>
              <a:tr h="502920">
                <a:tc>
                  <a:txBody>
                    <a:bodyPr wrap="square"/>
                    <a:lstStyle/>
                    <a:p>
                      <a:r>
                        <a:rPr sz="1050" b="1" i="0">
                          <a:solidFill>
                            <a:srgbClr val="FFFFFF"/>
                          </a:solidFill>
                          <a:latin typeface="Calibri"/>
                        </a:rPr>
                        <a:t>Area</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1050" b="1" i="0">
                          <a:solidFill>
                            <a:srgbClr val="FFFFFF"/>
                          </a:solidFill>
                          <a:latin typeface="Calibri"/>
                        </a:rPr>
                        <a:t>SAP source used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c>
                  <a:txBody>
                    <a:bodyPr wrap="square"/>
                    <a:lstStyle/>
                    <a:p>
                      <a:r>
                        <a:rPr sz="1050" b="1" i="0">
                          <a:solidFill>
                            <a:srgbClr val="FFFFFF"/>
                          </a:solidFill>
                          <a:latin typeface="Calibri"/>
                        </a:rPr>
                        <a:t>Result</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1C2E4A"/>
                    </a:solidFill>
                  </a:tcPr>
                </a:tc>
              </a:tr>
              <a:tr h="502920">
                <a:tc>
                  <a:txBody>
                    <a:bodyPr wrap="square"/>
                    <a:lstStyle/>
                    <a:p>
                      <a:r>
                        <a:rPr sz="1050" b="1" i="0">
                          <a:solidFill>
                            <a:srgbClr val="FFFFFF"/>
                          </a:solidFill>
                          <a:latin typeface="Calibri"/>
                        </a:rPr>
                        <a:t>String functions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050" b="0" i="0">
                          <a:solidFill>
                            <a:srgbClr val="3A4A5C"/>
                          </a:solidFill>
                          <a:latin typeface="Calibri"/>
                        </a:rPr>
                        <a:t>ABAP keyword documentation 7.52, SQL functions: string functions; SAP ABAP cheat sheet sample (view entity)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1050" b="0" i="0">
                          <a:solidFill>
                            <a:srgbClr val="3A4A5C"/>
                          </a:solidFill>
                          <a:latin typeface="Calibri"/>
                        </a:rPr>
                        <a:t>All 14 functions confirmed. replace_regexpr confirmed in the sample only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502920">
                <a:tc>
                  <a:txBody>
                    <a:bodyPr wrap="square"/>
                    <a:lstStyle/>
                    <a:p>
                      <a:r>
                        <a:rPr sz="1050" b="1" i="0">
                          <a:solidFill>
                            <a:srgbClr val="FFFFFF"/>
                          </a:solidFill>
                          <a:latin typeface="Calibri"/>
                        </a:rPr>
                        <a:t>Numeric functions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050" b="0" i="0">
                          <a:solidFill>
                            <a:srgbClr val="3A4A5C"/>
                          </a:solidFill>
                          <a:latin typeface="Calibri"/>
                        </a:rPr>
                        <a:t>SAP ABAP cheat sheet sample (view entity)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1050" b="0" i="0">
                          <a:solidFill>
                            <a:srgbClr val="3A4A5C"/>
                          </a:solidFill>
                          <a:latin typeface="Calibri"/>
                        </a:rPr>
                        <a:t>abs, ceil, floor, div, mod, division, round confirmed with their arguments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625221">
                <a:tc>
                  <a:txBody>
                    <a:bodyPr wrap="square"/>
                    <a:lstStyle/>
                    <a:p>
                      <a:r>
                        <a:rPr sz="1050" b="1" i="0">
                          <a:solidFill>
                            <a:srgbClr val="FFFFFF"/>
                          </a:solidFill>
                          <a:latin typeface="Calibri"/>
                        </a:rPr>
                        <a:t>Date functions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050" b="0" i="0">
                          <a:solidFill>
                            <a:srgbClr val="3A4A5C"/>
                          </a:solidFill>
                          <a:latin typeface="Calibri"/>
                        </a:rPr>
                        <a:t>ABAP keyword documentation 7.52, CDS date functions; cheat sheet sample</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1050" b="0" i="0">
                          <a:solidFill>
                            <a:srgbClr val="3A4A5C"/>
                          </a:solidFill>
                          <a:latin typeface="Calibri"/>
                        </a:rPr>
                        <a:t>dats_is_valid, dats_days_between, dats_add_days, dats_add_months, datn_days_between, dats_to_datn confirmed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625221">
                <a:tc>
                  <a:txBody>
                    <a:bodyPr wrap="square"/>
                    <a:lstStyle/>
                    <a:p>
                      <a:r>
                        <a:rPr sz="1050" b="1" i="0">
                          <a:solidFill>
                            <a:srgbClr val="FFFFFF"/>
                          </a:solidFill>
                          <a:latin typeface="Calibri"/>
                        </a:rPr>
                        <a:t>Timestamp functions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050" b="0" i="0">
                          <a:solidFill>
                            <a:srgbClr val="3A4A5C"/>
                          </a:solidFill>
                          <a:latin typeface="Calibri"/>
                        </a:rPr>
                        <a:t>ABAP keyword documentation, ABAP SQL timestamp functions; SAP Community blog, release 7.51</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1050" b="0" i="0">
                          <a:solidFill>
                            <a:srgbClr val="3A4A5C"/>
                          </a:solidFill>
                          <a:latin typeface="Calibri"/>
                        </a:rPr>
                        <a:t>utcl_current and utcl_add_seconds confirmed in CDS. tstmp_* confirmed for ABAP SQL, tstmp_to_dats/tims in CDS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r h="502920">
                <a:tc>
                  <a:txBody>
                    <a:bodyPr wrap="square"/>
                    <a:lstStyle/>
                    <a:p>
                      <a:r>
                        <a:rPr sz="1050" b="1" i="0">
                          <a:solidFill>
                            <a:srgbClr val="FFFFFF"/>
                          </a:solidFill>
                          <a:latin typeface="Calibri"/>
                        </a:rPr>
                        <a:t>Conversion, aggregates, joins</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050" b="0" i="0">
                          <a:solidFill>
                            <a:srgbClr val="3A4A5C"/>
                          </a:solidFill>
                          <a:latin typeface="Calibri"/>
                        </a:rPr>
                        <a:t>SAP ABAP cheat sheet samples (view entity)</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c>
                  <a:txBody>
                    <a:bodyPr wrap="square"/>
                    <a:lstStyle/>
                    <a:p>
                      <a:r>
                        <a:rPr sz="1050" b="0" i="0">
                          <a:solidFill>
                            <a:srgbClr val="3A4A5C"/>
                          </a:solidFill>
                          <a:latin typeface="Calibri"/>
                        </a:rPr>
                        <a:t>unit_conversion, fltp_to_dec, coalesce, CASE, aggregates, joins, associations confirmed</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FFFFF"/>
                    </a:solidFill>
                  </a:tcPr>
                </a:tc>
              </a:tr>
              <a:tr h="502920">
                <a:tc>
                  <a:txBody>
                    <a:bodyPr wrap="square"/>
                    <a:lstStyle/>
                    <a:p>
                      <a:r>
                        <a:rPr sz="1050" b="1" i="0">
                          <a:solidFill>
                            <a:srgbClr val="FFFFFF"/>
                          </a:solidFill>
                          <a:latin typeface="Calibri"/>
                        </a:rPr>
                        <a:t>Cast matrix</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0D7377"/>
                    </a:solidFill>
                  </a:tcPr>
                </a:tc>
                <a:tc>
                  <a:txBody>
                    <a:bodyPr wrap="square"/>
                    <a:lstStyle/>
                    <a:p>
                      <a:r>
                        <a:rPr sz="1050" b="0" i="0">
                          <a:solidFill>
                            <a:srgbClr val="3A4A5C"/>
                          </a:solidFill>
                          <a:latin typeface="Calibri"/>
                        </a:rPr>
                        <a:t>ABAP keyword documentation 7.51 (CDS) and 7.53 (ABAP SQL)</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c>
                  <a:txBody>
                    <a:bodyPr wrap="square"/>
                    <a:lstStyle/>
                    <a:p>
                      <a:r>
                        <a:rPr sz="1050" b="0" i="0">
                          <a:solidFill>
                            <a:srgbClr val="3A4A5C"/>
                          </a:solidFill>
                          <a:latin typeface="Calibri"/>
                        </a:rPr>
                        <a:t>Matrix confirmed. Legend for x, y, z, d, p not retrievable. The two releases differ</a:t>
                      </a:r>
                    </a:p>
                  </a:txBody>
                  <a:tcPr marL="91440" marR="91440" marT="27432" marB="27432" anchor="ctr">
                    <a:lnL w="12700" cap="flat" cmpd="sng" algn="ctr">
                      <a:solidFill>
                        <a:srgbClr val="E2EAF0"/>
                      </a:solidFill>
                      <a:prstDash val="solid"/>
                    </a:lnL>
                    <a:lnR w="12700" cap="flat" cmpd="sng" algn="ctr">
                      <a:solidFill>
                        <a:srgbClr val="E2EAF0"/>
                      </a:solidFill>
                      <a:prstDash val="solid"/>
                    </a:lnR>
                    <a:lnT w="12700" cap="flat" cmpd="sng" algn="ctr">
                      <a:solidFill>
                        <a:srgbClr val="E2EAF0"/>
                      </a:solidFill>
                      <a:prstDash val="solid"/>
                    </a:lnT>
                    <a:lnB w="12700" cap="flat" cmpd="sng" algn="ctr">
                      <a:solidFill>
                        <a:srgbClr val="E2EAF0"/>
                      </a:solidFill>
                      <a:prstDash val="solid"/>
                    </a:lnB>
                    <a:solidFill>
                      <a:srgbClr val="F5F8FA"/>
                    </a:solidFill>
                  </a:tcPr>
                </a:tc>
              </a:tr>
            </a:tbl>
          </a:graphicData>
        </a:graphic>
      </p:graphicFrame>
      <p:sp>
        <p:nvSpPr>
          <p:cNvPr id="5" name="Warn_Box"/>
          <p:cNvSpPr/>
          <p:nvPr/>
        </p:nvSpPr>
        <p:spPr>
          <a:xfrm>
            <a:off x="429768" y="4816602"/>
            <a:ext cx="11338560" cy="548640"/>
          </a:xfrm>
          <a:prstGeom prst="rect">
            <a:avLst/>
          </a:prstGeom>
          <a:solidFill>
            <a:srgbClr val="FDECEA"/>
          </a:solidFill>
          <a:ln w="12700">
            <a:solidFill>
              <a:srgbClr val="F85149"/>
            </a:solidFill>
          </a:ln>
          <a:effectLst/>
        </p:spPr>
        <p:txBody>
          <a:bodyPr rtlCol="0" anchor="ctr"/>
          <a:lstStyle/>
          <a:p>
            <a:pPr algn="ctr"/>
          </a:p>
        </p:txBody>
      </p:sp>
      <p:sp>
        <p:nvSpPr>
          <p:cNvPr id="6" name="Warn_Text"/>
          <p:cNvSpPr txBox="1"/>
          <p:nvPr/>
        </p:nvSpPr>
        <p:spPr>
          <a:xfrm>
            <a:off x="612647" y="4853178"/>
            <a:ext cx="10972800" cy="475488"/>
          </a:xfrm>
          <a:prstGeom prst="rect">
            <a:avLst/>
          </a:prstGeom>
          <a:noFill/>
        </p:spPr>
        <p:txBody>
          <a:bodyPr wrap="square" lIns="0" rIns="0" tIns="0" bIns="0" anchor="ctr">
            <a:spAutoFit/>
          </a:bodyPr>
          <a:lstStyle/>
          <a:p>
            <a:r>
              <a:rPr sz="1150" b="1" i="0">
                <a:solidFill>
                  <a:srgbClr val="F85149"/>
                </a:solidFill>
                <a:latin typeface="Calibri"/>
              </a:rPr>
              <a:t>⚠  Blocked: </a:t>
            </a:r>
            <a:r>
              <a:rPr sz="1150" b="0" i="0">
                <a:solidFill>
                  <a:srgbClr val="3A4A5C"/>
                </a:solidFill>
                <a:latin typeface="Calibri"/>
              </a:rPr>
              <a:t>many pages under help.sap.com could not be opened by my tools. Anything that depends on them is marked Check.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109728"/>
            <a:ext cx="8046720" cy="502920"/>
          </a:xfrm>
          <a:prstGeom prst="rect">
            <a:avLst/>
          </a:prstGeom>
          <a:noFill/>
        </p:spPr>
        <p:txBody>
          <a:bodyPr wrap="square" lIns="0" rIns="0" tIns="0" bIns="0" anchor="ctr">
            <a:spAutoFit/>
          </a:bodyPr>
          <a:lstStyle/>
          <a:p>
            <a:r>
              <a:rPr sz="2200" b="1" i="0">
                <a:solidFill>
                  <a:srgbClr val="1C2E4A"/>
                </a:solidFill>
                <a:latin typeface="Calibri"/>
              </a:rPr>
              <a:t>CDS Demo Capstone – Still To Confirm in ADT</a:t>
            </a:r>
          </a:p>
        </p:txBody>
      </p:sp>
      <p:sp>
        <p:nvSpPr>
          <p:cNvPr id="3" name="Subtitle"/>
          <p:cNvSpPr txBox="1"/>
          <p:nvPr/>
        </p:nvSpPr>
        <p:spPr>
          <a:xfrm>
            <a:off x="7863840" y="109728"/>
            <a:ext cx="3904487" cy="502920"/>
          </a:xfrm>
          <a:prstGeom prst="rect">
            <a:avLst/>
          </a:prstGeom>
          <a:noFill/>
        </p:spPr>
        <p:txBody>
          <a:bodyPr wrap="square" lIns="0" rIns="0" tIns="0" bIns="0" anchor="ctr">
            <a:spAutoFit/>
          </a:bodyPr>
          <a:lstStyle/>
          <a:p>
            <a:pPr algn="r"/>
            <a:r>
              <a:rPr sz="1100" b="0" i="0">
                <a:solidFill>
                  <a:srgbClr val="6B7785"/>
                </a:solidFill>
                <a:latin typeface="Calibri"/>
              </a:rPr>
              <a:t>Open points  |  rows marked Check</a:t>
            </a:r>
          </a:p>
        </p:txBody>
      </p:sp>
      <p:sp>
        <p:nvSpPr>
          <p:cNvPr id="4" name="Point_Box"/>
          <p:cNvSpPr/>
          <p:nvPr/>
        </p:nvSpPr>
        <p:spPr>
          <a:xfrm>
            <a:off x="429768" y="822960"/>
            <a:ext cx="11338560" cy="777240"/>
          </a:xfrm>
          <a:prstGeom prst="rect">
            <a:avLst/>
          </a:prstGeom>
          <a:solidFill>
            <a:srgbClr val="FFFFFF"/>
          </a:solidFill>
          <a:ln w="12700">
            <a:solidFill>
              <a:srgbClr val="C9D1D9"/>
            </a:solidFill>
          </a:ln>
          <a:effectLst>
            <a:outerShdw blurRad="101600" dist="38100" dir="8100000" algn="bl" rotWithShape="0">
              <a:srgbClr val="000000">
                <a:alpha val="12000"/>
              </a:srgbClr>
            </a:outerShdw>
          </a:effectLst>
        </p:spPr>
        <p:txBody>
          <a:bodyPr rtlCol="0" anchor="ctr"/>
          <a:lstStyle/>
          <a:p>
            <a:pPr algn="ctr"/>
          </a:p>
        </p:txBody>
      </p:sp>
      <p:sp>
        <p:nvSpPr>
          <p:cNvPr id="5" name="Point_Bar"/>
          <p:cNvSpPr/>
          <p:nvPr/>
        </p:nvSpPr>
        <p:spPr>
          <a:xfrm>
            <a:off x="429768" y="822960"/>
            <a:ext cx="73152" cy="777240"/>
          </a:xfrm>
          <a:prstGeom prst="rect">
            <a:avLst/>
          </a:prstGeom>
          <a:solidFill>
            <a:srgbClr val="E8844A"/>
          </a:solidFill>
          <a:ln w="12700">
            <a:solidFill>
              <a:srgbClr val="E8844A"/>
            </a:solidFill>
          </a:ln>
          <a:effectLst/>
        </p:spPr>
        <p:txBody>
          <a:bodyPr rtlCol="0" anchor="ctr"/>
          <a:lstStyle/>
          <a:p>
            <a:pPr algn="ctr"/>
          </a:p>
        </p:txBody>
      </p:sp>
      <p:sp>
        <p:nvSpPr>
          <p:cNvPr id="6" name="Point_Title"/>
          <p:cNvSpPr txBox="1"/>
          <p:nvPr/>
        </p:nvSpPr>
        <p:spPr>
          <a:xfrm>
            <a:off x="640080" y="868680"/>
            <a:ext cx="2468880" cy="685800"/>
          </a:xfrm>
          <a:prstGeom prst="rect">
            <a:avLst/>
          </a:prstGeom>
          <a:noFill/>
        </p:spPr>
        <p:txBody>
          <a:bodyPr wrap="square" lIns="0" rIns="0" tIns="0" bIns="0" anchor="ctr">
            <a:spAutoFit/>
          </a:bodyPr>
          <a:lstStyle/>
          <a:p>
            <a:r>
              <a:rPr sz="1250" b="1" i="0">
                <a:solidFill>
                  <a:srgbClr val="1C2E4A"/>
                </a:solidFill>
                <a:latin typeface="Calibri"/>
              </a:rPr>
              <a:t>Corrections made</a:t>
            </a:r>
          </a:p>
        </p:txBody>
      </p:sp>
      <p:sp>
        <p:nvSpPr>
          <p:cNvPr id="7" name="Point_Text"/>
          <p:cNvSpPr txBox="1"/>
          <p:nvPr/>
        </p:nvSpPr>
        <p:spPr>
          <a:xfrm>
            <a:off x="3200400" y="868680"/>
            <a:ext cx="8412480" cy="685800"/>
          </a:xfrm>
          <a:prstGeom prst="rect">
            <a:avLst/>
          </a:prstGeom>
          <a:noFill/>
        </p:spPr>
        <p:txBody>
          <a:bodyPr wrap="square" lIns="0" rIns="0" tIns="0" bIns="0" anchor="ctr">
            <a:spAutoFit/>
          </a:bodyPr>
          <a:lstStyle/>
          <a:p>
            <a:r>
              <a:rPr sz="1100" b="0" i="0">
                <a:solidFill>
                  <a:srgbClr val="3A4A5C"/>
                </a:solidFill>
                <a:latin typeface="Calibri"/>
              </a:rPr>
              <a:t>ltrim and rtrim need a character argument and also remove trailing blanks. &amp;&amp; removed. dats_add_days and dats_add_months need an on_error literal. fltp_to_dec needs a target type. unit_conversion needs source_unit. round and division need a decimals argument.</a:t>
            </a:r>
          </a:p>
        </p:txBody>
      </p:sp>
      <p:sp>
        <p:nvSpPr>
          <p:cNvPr id="8" name="Point_Box"/>
          <p:cNvSpPr/>
          <p:nvPr/>
        </p:nvSpPr>
        <p:spPr>
          <a:xfrm>
            <a:off x="429768" y="1691640"/>
            <a:ext cx="11338560" cy="777240"/>
          </a:xfrm>
          <a:prstGeom prst="rect">
            <a:avLst/>
          </a:prstGeom>
          <a:solidFill>
            <a:srgbClr val="FFFFFF"/>
          </a:solidFill>
          <a:ln w="12700">
            <a:solidFill>
              <a:srgbClr val="C9D1D9"/>
            </a:solidFill>
          </a:ln>
          <a:effectLst>
            <a:outerShdw blurRad="101600" dist="38100" dir="8100000" algn="bl" rotWithShape="0">
              <a:srgbClr val="000000">
                <a:alpha val="12000"/>
              </a:srgbClr>
            </a:outerShdw>
          </a:effectLst>
        </p:spPr>
        <p:txBody>
          <a:bodyPr rtlCol="0" anchor="ctr"/>
          <a:lstStyle/>
          <a:p>
            <a:pPr algn="ctr"/>
          </a:p>
        </p:txBody>
      </p:sp>
      <p:sp>
        <p:nvSpPr>
          <p:cNvPr id="9" name="Point_Bar"/>
          <p:cNvSpPr/>
          <p:nvPr/>
        </p:nvSpPr>
        <p:spPr>
          <a:xfrm>
            <a:off x="429768" y="1691640"/>
            <a:ext cx="73152" cy="777240"/>
          </a:xfrm>
          <a:prstGeom prst="rect">
            <a:avLst/>
          </a:prstGeom>
          <a:solidFill>
            <a:srgbClr val="E8844A"/>
          </a:solidFill>
          <a:ln w="12700">
            <a:solidFill>
              <a:srgbClr val="E8844A"/>
            </a:solidFill>
          </a:ln>
          <a:effectLst/>
        </p:spPr>
        <p:txBody>
          <a:bodyPr rtlCol="0" anchor="ctr"/>
          <a:lstStyle/>
          <a:p>
            <a:pPr algn="ctr"/>
          </a:p>
        </p:txBody>
      </p:sp>
      <p:sp>
        <p:nvSpPr>
          <p:cNvPr id="10" name="Point_Title"/>
          <p:cNvSpPr txBox="1"/>
          <p:nvPr/>
        </p:nvSpPr>
        <p:spPr>
          <a:xfrm>
            <a:off x="640080" y="1737360"/>
            <a:ext cx="2468880" cy="685800"/>
          </a:xfrm>
          <a:prstGeom prst="rect">
            <a:avLst/>
          </a:prstGeom>
          <a:noFill/>
        </p:spPr>
        <p:txBody>
          <a:bodyPr wrap="square" lIns="0" rIns="0" tIns="0" bIns="0" anchor="ctr">
            <a:spAutoFit/>
          </a:bodyPr>
          <a:lstStyle/>
          <a:p>
            <a:r>
              <a:rPr sz="1250" b="1" i="0">
                <a:solidFill>
                  <a:srgbClr val="1C2E4A"/>
                </a:solidFill>
                <a:latin typeface="Calibri"/>
              </a:rPr>
              <a:t>Cast matrix</a:t>
            </a:r>
          </a:p>
        </p:txBody>
      </p:sp>
      <p:sp>
        <p:nvSpPr>
          <p:cNvPr id="11" name="Point_Text"/>
          <p:cNvSpPr txBox="1"/>
          <p:nvPr/>
        </p:nvSpPr>
        <p:spPr>
          <a:xfrm>
            <a:off x="3200400" y="1737360"/>
            <a:ext cx="8412480" cy="685800"/>
          </a:xfrm>
          <a:prstGeom prst="rect">
            <a:avLst/>
          </a:prstGeom>
          <a:noFill/>
        </p:spPr>
        <p:txBody>
          <a:bodyPr wrap="square" lIns="0" rIns="0" tIns="0" bIns="0" anchor="ctr">
            <a:spAutoFit/>
          </a:bodyPr>
          <a:lstStyle/>
          <a:p>
            <a:r>
              <a:rPr sz="1100" b="0" i="0">
                <a:solidFill>
                  <a:srgbClr val="3A4A5C"/>
                </a:solidFill>
                <a:latin typeface="Calibri"/>
              </a:rPr>
              <a:t>Legend of x, y, z, d, p not retrieved. The 7.53 ABAP SQL matrix shows DEC to INT as allowed. The 7.51 CDS matrix does not. Test every cast on your system.</a:t>
            </a:r>
          </a:p>
        </p:txBody>
      </p:sp>
      <p:sp>
        <p:nvSpPr>
          <p:cNvPr id="12" name="Point_Box"/>
          <p:cNvSpPr/>
          <p:nvPr/>
        </p:nvSpPr>
        <p:spPr>
          <a:xfrm>
            <a:off x="429768" y="2560320"/>
            <a:ext cx="11338560" cy="777240"/>
          </a:xfrm>
          <a:prstGeom prst="rect">
            <a:avLst/>
          </a:prstGeom>
          <a:solidFill>
            <a:srgbClr val="FFFFFF"/>
          </a:solidFill>
          <a:ln w="12700">
            <a:solidFill>
              <a:srgbClr val="C9D1D9"/>
            </a:solidFill>
          </a:ln>
          <a:effectLst>
            <a:outerShdw blurRad="101600" dist="38100" dir="8100000" algn="bl" rotWithShape="0">
              <a:srgbClr val="000000">
                <a:alpha val="12000"/>
              </a:srgbClr>
            </a:outerShdw>
          </a:effectLst>
        </p:spPr>
        <p:txBody>
          <a:bodyPr rtlCol="0" anchor="ctr"/>
          <a:lstStyle/>
          <a:p>
            <a:pPr algn="ctr"/>
          </a:p>
        </p:txBody>
      </p:sp>
      <p:sp>
        <p:nvSpPr>
          <p:cNvPr id="13" name="Point_Bar"/>
          <p:cNvSpPr/>
          <p:nvPr/>
        </p:nvSpPr>
        <p:spPr>
          <a:xfrm>
            <a:off x="429768" y="2560320"/>
            <a:ext cx="73152" cy="777240"/>
          </a:xfrm>
          <a:prstGeom prst="rect">
            <a:avLst/>
          </a:prstGeom>
          <a:solidFill>
            <a:srgbClr val="E8844A"/>
          </a:solidFill>
          <a:ln w="12700">
            <a:solidFill>
              <a:srgbClr val="E8844A"/>
            </a:solidFill>
          </a:ln>
          <a:effectLst/>
        </p:spPr>
        <p:txBody>
          <a:bodyPr rtlCol="0" anchor="ctr"/>
          <a:lstStyle/>
          <a:p>
            <a:pPr algn="ctr"/>
          </a:p>
        </p:txBody>
      </p:sp>
      <p:sp>
        <p:nvSpPr>
          <p:cNvPr id="14" name="Point_Title"/>
          <p:cNvSpPr txBox="1"/>
          <p:nvPr/>
        </p:nvSpPr>
        <p:spPr>
          <a:xfrm>
            <a:off x="640080" y="2606039"/>
            <a:ext cx="2468880" cy="685800"/>
          </a:xfrm>
          <a:prstGeom prst="rect">
            <a:avLst/>
          </a:prstGeom>
          <a:noFill/>
        </p:spPr>
        <p:txBody>
          <a:bodyPr wrap="square" lIns="0" rIns="0" tIns="0" bIns="0" anchor="ctr">
            <a:spAutoFit/>
          </a:bodyPr>
          <a:lstStyle/>
          <a:p>
            <a:r>
              <a:rPr sz="1250" b="1" i="0">
                <a:solidFill>
                  <a:srgbClr val="1C2E4A"/>
                </a:solidFill>
                <a:latin typeface="Calibri"/>
              </a:rPr>
              <a:t>Functions marked Check</a:t>
            </a:r>
          </a:p>
        </p:txBody>
      </p:sp>
      <p:sp>
        <p:nvSpPr>
          <p:cNvPr id="15" name="Point_Text"/>
          <p:cNvSpPr txBox="1"/>
          <p:nvPr/>
        </p:nvSpPr>
        <p:spPr>
          <a:xfrm>
            <a:off x="3200400" y="2606039"/>
            <a:ext cx="8412480" cy="685800"/>
          </a:xfrm>
          <a:prstGeom prst="rect">
            <a:avLst/>
          </a:prstGeom>
          <a:noFill/>
        </p:spPr>
        <p:txBody>
          <a:bodyPr wrap="square" lIns="0" rIns="0" tIns="0" bIns="0" anchor="ctr">
            <a:spAutoFit/>
          </a:bodyPr>
          <a:lstStyle/>
          <a:p>
            <a:r>
              <a:rPr sz="1100" b="0" i="0">
                <a:solidFill>
                  <a:srgbClr val="3A4A5C"/>
                </a:solidFill>
                <a:latin typeface="Calibri"/>
              </a:rPr>
              <a:t>tims_is_valid, datn_add_days, tstmp_seconds_between and tstmp_add_seconds in CDS, utcl_seconds_between in CDS, dats_tims_to_tstmp signature, currency_conversion syntax, curr_to_decfloat_amount, get_numeric_value, UNION ALL, string restrictions.</a:t>
            </a:r>
          </a:p>
        </p:txBody>
      </p:sp>
      <p:sp>
        <p:nvSpPr>
          <p:cNvPr id="16" name="Point_Box"/>
          <p:cNvSpPr/>
          <p:nvPr/>
        </p:nvSpPr>
        <p:spPr>
          <a:xfrm>
            <a:off x="429768" y="3429000"/>
            <a:ext cx="11338560" cy="777240"/>
          </a:xfrm>
          <a:prstGeom prst="rect">
            <a:avLst/>
          </a:prstGeom>
          <a:solidFill>
            <a:srgbClr val="FFFFFF"/>
          </a:solidFill>
          <a:ln w="12700">
            <a:solidFill>
              <a:srgbClr val="C9D1D9"/>
            </a:solidFill>
          </a:ln>
          <a:effectLst>
            <a:outerShdw blurRad="101600" dist="38100" dir="8100000" algn="bl" rotWithShape="0">
              <a:srgbClr val="000000">
                <a:alpha val="12000"/>
              </a:srgbClr>
            </a:outerShdw>
          </a:effectLst>
        </p:spPr>
        <p:txBody>
          <a:bodyPr rtlCol="0" anchor="ctr"/>
          <a:lstStyle/>
          <a:p>
            <a:pPr algn="ctr"/>
          </a:p>
        </p:txBody>
      </p:sp>
      <p:sp>
        <p:nvSpPr>
          <p:cNvPr id="17" name="Point_Bar"/>
          <p:cNvSpPr/>
          <p:nvPr/>
        </p:nvSpPr>
        <p:spPr>
          <a:xfrm>
            <a:off x="429768" y="3429000"/>
            <a:ext cx="73152" cy="777240"/>
          </a:xfrm>
          <a:prstGeom prst="rect">
            <a:avLst/>
          </a:prstGeom>
          <a:solidFill>
            <a:srgbClr val="E8844A"/>
          </a:solidFill>
          <a:ln w="12700">
            <a:solidFill>
              <a:srgbClr val="E8844A"/>
            </a:solidFill>
          </a:ln>
          <a:effectLst/>
        </p:spPr>
        <p:txBody>
          <a:bodyPr rtlCol="0" anchor="ctr"/>
          <a:lstStyle/>
          <a:p>
            <a:pPr algn="ctr"/>
          </a:p>
        </p:txBody>
      </p:sp>
      <p:sp>
        <p:nvSpPr>
          <p:cNvPr id="18" name="Point_Title"/>
          <p:cNvSpPr txBox="1"/>
          <p:nvPr/>
        </p:nvSpPr>
        <p:spPr>
          <a:xfrm>
            <a:off x="640080" y="3474720"/>
            <a:ext cx="2468880" cy="685800"/>
          </a:xfrm>
          <a:prstGeom prst="rect">
            <a:avLst/>
          </a:prstGeom>
          <a:noFill/>
        </p:spPr>
        <p:txBody>
          <a:bodyPr wrap="square" lIns="0" rIns="0" tIns="0" bIns="0" anchor="ctr">
            <a:spAutoFit/>
          </a:bodyPr>
          <a:lstStyle/>
          <a:p>
            <a:r>
              <a:rPr sz="1250" b="1" i="0">
                <a:solidFill>
                  <a:srgbClr val="1C2E4A"/>
                </a:solidFill>
                <a:latin typeface="Calibri"/>
              </a:rPr>
              <a:t>Operand types</a:t>
            </a:r>
          </a:p>
        </p:txBody>
      </p:sp>
      <p:sp>
        <p:nvSpPr>
          <p:cNvPr id="19" name="Point_Text"/>
          <p:cNvSpPr txBox="1"/>
          <p:nvPr/>
        </p:nvSpPr>
        <p:spPr>
          <a:xfrm>
            <a:off x="3200400" y="3474720"/>
            <a:ext cx="8412480" cy="685800"/>
          </a:xfrm>
          <a:prstGeom prst="rect">
            <a:avLst/>
          </a:prstGeom>
          <a:noFill/>
        </p:spPr>
        <p:txBody>
          <a:bodyPr wrap="square" lIns="0" rIns="0" tIns="0" bIns="0" anchor="ctr">
            <a:spAutoFit/>
          </a:bodyPr>
          <a:lstStyle/>
          <a:p>
            <a:r>
              <a:rPr sz="1100" b="0" i="0">
                <a:solidFill>
                  <a:srgbClr val="3A4A5C"/>
                </a:solidFill>
                <a:latin typeface="Calibri"/>
              </a:rPr>
              <a:t>Which column types each function accepts (for example concat on numc, ceil on dec) and the behaviour for negative values, division by zero and NULL are not confirmed.</a:t>
            </a:r>
          </a:p>
        </p:txBody>
      </p:sp>
      <p:sp>
        <p:nvSpPr>
          <p:cNvPr id="20" name="Point_Box"/>
          <p:cNvSpPr/>
          <p:nvPr/>
        </p:nvSpPr>
        <p:spPr>
          <a:xfrm>
            <a:off x="429768" y="4297680"/>
            <a:ext cx="11338560" cy="777240"/>
          </a:xfrm>
          <a:prstGeom prst="rect">
            <a:avLst/>
          </a:prstGeom>
          <a:solidFill>
            <a:srgbClr val="FFFFFF"/>
          </a:solidFill>
          <a:ln w="12700">
            <a:solidFill>
              <a:srgbClr val="C9D1D9"/>
            </a:solidFill>
          </a:ln>
          <a:effectLst>
            <a:outerShdw blurRad="101600" dist="38100" dir="8100000" algn="bl" rotWithShape="0">
              <a:srgbClr val="000000">
                <a:alpha val="12000"/>
              </a:srgbClr>
            </a:outerShdw>
          </a:effectLst>
        </p:spPr>
        <p:txBody>
          <a:bodyPr rtlCol="0" anchor="ctr"/>
          <a:lstStyle/>
          <a:p>
            <a:pPr algn="ctr"/>
          </a:p>
        </p:txBody>
      </p:sp>
      <p:sp>
        <p:nvSpPr>
          <p:cNvPr id="21" name="Point_Bar"/>
          <p:cNvSpPr/>
          <p:nvPr/>
        </p:nvSpPr>
        <p:spPr>
          <a:xfrm>
            <a:off x="429768" y="4297680"/>
            <a:ext cx="73152" cy="777240"/>
          </a:xfrm>
          <a:prstGeom prst="rect">
            <a:avLst/>
          </a:prstGeom>
          <a:solidFill>
            <a:srgbClr val="E8844A"/>
          </a:solidFill>
          <a:ln w="12700">
            <a:solidFill>
              <a:srgbClr val="E8844A"/>
            </a:solidFill>
          </a:ln>
          <a:effectLst/>
        </p:spPr>
        <p:txBody>
          <a:bodyPr rtlCol="0" anchor="ctr"/>
          <a:lstStyle/>
          <a:p>
            <a:pPr algn="ctr"/>
          </a:p>
        </p:txBody>
      </p:sp>
      <p:sp>
        <p:nvSpPr>
          <p:cNvPr id="22" name="Point_Title"/>
          <p:cNvSpPr txBox="1"/>
          <p:nvPr/>
        </p:nvSpPr>
        <p:spPr>
          <a:xfrm>
            <a:off x="640080" y="4343400"/>
            <a:ext cx="2468880" cy="685800"/>
          </a:xfrm>
          <a:prstGeom prst="rect">
            <a:avLst/>
          </a:prstGeom>
          <a:noFill/>
        </p:spPr>
        <p:txBody>
          <a:bodyPr wrap="square" lIns="0" rIns="0" tIns="0" bIns="0" anchor="ctr">
            <a:spAutoFit/>
          </a:bodyPr>
          <a:lstStyle/>
          <a:p>
            <a:r>
              <a:rPr sz="1250" b="1" i="0">
                <a:solidFill>
                  <a:srgbClr val="1C2E4A"/>
                </a:solidFill>
                <a:latin typeface="Calibri"/>
              </a:rPr>
              <a:t>Column types</a:t>
            </a:r>
          </a:p>
        </p:txBody>
      </p:sp>
      <p:sp>
        <p:nvSpPr>
          <p:cNvPr id="23" name="Point_Text"/>
          <p:cNvSpPr txBox="1"/>
          <p:nvPr/>
        </p:nvSpPr>
        <p:spPr>
          <a:xfrm>
            <a:off x="3200400" y="4343400"/>
            <a:ext cx="8412480" cy="685800"/>
          </a:xfrm>
          <a:prstGeom prst="rect">
            <a:avLst/>
          </a:prstGeom>
          <a:noFill/>
        </p:spPr>
        <p:txBody>
          <a:bodyPr wrap="square" lIns="0" rIns="0" tIns="0" bIns="0" anchor="ctr">
            <a:spAutoFit/>
          </a:bodyPr>
          <a:lstStyle/>
          <a:p>
            <a:r>
              <a:rPr sz="1100" b="0" i="0">
                <a:solidFill>
                  <a:srgbClr val="3A4A5C"/>
                </a:solidFill>
                <a:latin typeface="Calibri"/>
              </a:rPr>
              <a:t>int1, int2, int8, decfloat16/34, fltp, lang, quan, unit, raw and accp are not in SAP's ABAP Cloud cheat sheet. Confirm that the table activates.</a:t>
            </a:r>
          </a:p>
        </p:txBody>
      </p:sp>
      <p:sp>
        <p:nvSpPr>
          <p:cNvPr id="24" name="Point_Box"/>
          <p:cNvSpPr/>
          <p:nvPr/>
        </p:nvSpPr>
        <p:spPr>
          <a:xfrm>
            <a:off x="429768" y="5166360"/>
            <a:ext cx="11338560" cy="777240"/>
          </a:xfrm>
          <a:prstGeom prst="rect">
            <a:avLst/>
          </a:prstGeom>
          <a:solidFill>
            <a:srgbClr val="FFFFFF"/>
          </a:solidFill>
          <a:ln w="12700">
            <a:solidFill>
              <a:srgbClr val="C9D1D9"/>
            </a:solidFill>
          </a:ln>
          <a:effectLst>
            <a:outerShdw blurRad="101600" dist="38100" dir="8100000" algn="bl" rotWithShape="0">
              <a:srgbClr val="000000">
                <a:alpha val="12000"/>
              </a:srgbClr>
            </a:outerShdw>
          </a:effectLst>
        </p:spPr>
        <p:txBody>
          <a:bodyPr rtlCol="0" anchor="ctr"/>
          <a:lstStyle/>
          <a:p>
            <a:pPr algn="ctr"/>
          </a:p>
        </p:txBody>
      </p:sp>
      <p:sp>
        <p:nvSpPr>
          <p:cNvPr id="25" name="Point_Bar"/>
          <p:cNvSpPr/>
          <p:nvPr/>
        </p:nvSpPr>
        <p:spPr>
          <a:xfrm>
            <a:off x="429768" y="5166360"/>
            <a:ext cx="73152" cy="777240"/>
          </a:xfrm>
          <a:prstGeom prst="rect">
            <a:avLst/>
          </a:prstGeom>
          <a:solidFill>
            <a:srgbClr val="E8844A"/>
          </a:solidFill>
          <a:ln w="12700">
            <a:solidFill>
              <a:srgbClr val="E8844A"/>
            </a:solidFill>
          </a:ln>
          <a:effectLst/>
        </p:spPr>
        <p:txBody>
          <a:bodyPr rtlCol="0" anchor="ctr"/>
          <a:lstStyle/>
          <a:p>
            <a:pPr algn="ctr"/>
          </a:p>
        </p:txBody>
      </p:sp>
      <p:sp>
        <p:nvSpPr>
          <p:cNvPr id="26" name="Point_Title"/>
          <p:cNvSpPr txBox="1"/>
          <p:nvPr/>
        </p:nvSpPr>
        <p:spPr>
          <a:xfrm>
            <a:off x="640080" y="5212080"/>
            <a:ext cx="2468880" cy="685800"/>
          </a:xfrm>
          <a:prstGeom prst="rect">
            <a:avLst/>
          </a:prstGeom>
          <a:noFill/>
        </p:spPr>
        <p:txBody>
          <a:bodyPr wrap="square" lIns="0" rIns="0" tIns="0" bIns="0" anchor="ctr">
            <a:spAutoFit/>
          </a:bodyPr>
          <a:lstStyle/>
          <a:p>
            <a:r>
              <a:rPr sz="1250" b="1" i="0">
                <a:solidFill>
                  <a:srgbClr val="1C2E4A"/>
                </a:solidFill>
                <a:latin typeface="Calibri"/>
              </a:rPr>
              <a:t>Size</a:t>
            </a:r>
          </a:p>
        </p:txBody>
      </p:sp>
      <p:sp>
        <p:nvSpPr>
          <p:cNvPr id="27" name="Point_Text"/>
          <p:cNvSpPr txBox="1"/>
          <p:nvPr/>
        </p:nvSpPr>
        <p:spPr>
          <a:xfrm>
            <a:off x="3200400" y="5212080"/>
            <a:ext cx="8412480" cy="685800"/>
          </a:xfrm>
          <a:prstGeom prst="rect">
            <a:avLst/>
          </a:prstGeom>
          <a:noFill/>
        </p:spPr>
        <p:txBody>
          <a:bodyPr wrap="square" lIns="0" rIns="0" tIns="0" bIns="0" anchor="ctr">
            <a:spAutoFit/>
          </a:bodyPr>
          <a:lstStyle/>
          <a:p>
            <a:r>
              <a:rPr sz="1100" b="0" i="0">
                <a:solidFill>
                  <a:srgbClr val="3A4A5C"/>
                </a:solidFill>
                <a:latin typeface="Calibri"/>
              </a:rPr>
              <a:t>74 scenarios on one table is a proposal. Drop any scenario you do not teach, then drop the columns only that scenario uses.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